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d787d586fb4f61" /><Relationship Type="http://schemas.openxmlformats.org/officeDocument/2006/relationships/extended-properties" Target="/docProps/app.xml" Id="Rb33b920fb7e04092" /><Relationship Type="http://schemas.openxmlformats.org/officeDocument/2006/relationships/officeDocument" Target="/ppt/presentation.xml" Id="R0891ce55adbd4c2e" /></Relationships>
</file>

<file path=ppt/presentation.xml><?xml version="1.0" encoding="utf-8"?>
<p:presentation xmlns:p="http://schemas.openxmlformats.org/presentationml/2006/main">
  <p:sldMasterIdLst>
    <p:sldMasterId xmlns:r="http://schemas.openxmlformats.org/officeDocument/2006/relationships" id="2147483648" r:id="R8d408ec2325c47aa"/>
  </p:sldMasterIdLst>
  <p:notesMasterIdLst>
    <p:notesMasterId xmlns:r="http://schemas.openxmlformats.org/officeDocument/2006/relationships" r:id="R5b5a821c68f34d23"/>
  </p:notesMasterIdLst>
  <p:sldIdLst>
    <p:sldId xmlns:r="http://schemas.openxmlformats.org/officeDocument/2006/relationships" id="256" r:id="Rd746212d06f346dc"/>
    <p:sldId xmlns:r="http://schemas.openxmlformats.org/officeDocument/2006/relationships" id="257" r:id="Rde3f7bdec9d147ed"/>
    <p:sldId xmlns:r="http://schemas.openxmlformats.org/officeDocument/2006/relationships" id="258" r:id="R36c097a28dea4e17"/>
    <p:sldId xmlns:r="http://schemas.openxmlformats.org/officeDocument/2006/relationships" id="259" r:id="Re735e81c5db646b9"/>
    <p:sldId xmlns:r="http://schemas.openxmlformats.org/officeDocument/2006/relationships" id="260" r:id="R21840699e35c45a7"/>
    <p:sldId xmlns:r="http://schemas.openxmlformats.org/officeDocument/2006/relationships" id="261" r:id="R3011cd81bfe94f05"/>
    <p:sldId xmlns:r="http://schemas.openxmlformats.org/officeDocument/2006/relationships" id="262" r:id="Rc639414059e54ed3"/>
    <p:sldId xmlns:r="http://schemas.openxmlformats.org/officeDocument/2006/relationships" id="263" r:id="Re9d36c98ab974f64"/>
    <p:sldId xmlns:r="http://schemas.openxmlformats.org/officeDocument/2006/relationships" id="264" r:id="R40b5da1c4f4f44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026fd0678b4c19" /><Relationship Type="http://schemas.openxmlformats.org/officeDocument/2006/relationships/slideMaster" Target="/ppt/slideMasters/slideMaster1.xml" Id="R8d408ec2325c47aa" /><Relationship Type="http://schemas.openxmlformats.org/officeDocument/2006/relationships/notesMaster" Target="/ppt/notesMasters/notesMaster1.xml" Id="R5b5a821c68f34d23" /><Relationship Type="http://schemas.openxmlformats.org/officeDocument/2006/relationships/presProps" Target="/ppt/presProps.xml" Id="R0cf8c58aeea347dc" /><Relationship Type="http://schemas.openxmlformats.org/officeDocument/2006/relationships/tableStyles" Target="/ppt/tableStyles.xml" Id="Rd5b1f70892b34572" /><Relationship Type="http://schemas.openxmlformats.org/officeDocument/2006/relationships/slide" Target="/ppt/slides/slide1.xml" Id="Rd746212d06f346dc" /><Relationship Type="http://schemas.openxmlformats.org/officeDocument/2006/relationships/slide" Target="/ppt/slides/slide2.xml" Id="Rde3f7bdec9d147ed" /><Relationship Type="http://schemas.openxmlformats.org/officeDocument/2006/relationships/slide" Target="/ppt/slides/slide3.xml" Id="R36c097a28dea4e17" /><Relationship Type="http://schemas.openxmlformats.org/officeDocument/2006/relationships/slide" Target="/ppt/slides/slide4.xml" Id="Re735e81c5db646b9" /><Relationship Type="http://schemas.openxmlformats.org/officeDocument/2006/relationships/slide" Target="/ppt/slides/slide5.xml" Id="R21840699e35c45a7" /><Relationship Type="http://schemas.openxmlformats.org/officeDocument/2006/relationships/slide" Target="/ppt/slides/slide6.xml" Id="R3011cd81bfe94f05" /><Relationship Type="http://schemas.openxmlformats.org/officeDocument/2006/relationships/slide" Target="/ppt/slides/slide7.xml" Id="Rc639414059e54ed3" /><Relationship Type="http://schemas.openxmlformats.org/officeDocument/2006/relationships/slide" Target="/ppt/slides/slide8.xml" Id="Re9d36c98ab974f64" /><Relationship Type="http://schemas.openxmlformats.org/officeDocument/2006/relationships/slide" Target="/ppt/slides/slide9.xml" Id="R40b5da1c4f4f44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37ea5cef654e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0cf2526727463b" /><Relationship Type="http://schemas.openxmlformats.org/officeDocument/2006/relationships/notesMaster" Target="/ppt/notesMasters/notesMaster1.xml" Id="R715c57ddb64244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531086010a473f" /><Relationship Type="http://schemas.openxmlformats.org/officeDocument/2006/relationships/notesMaster" Target="/ppt/notesMasters/notesMaster1.xml" Id="R3f4c1caaa36e4b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6fbb1b3b2048e6" /><Relationship Type="http://schemas.openxmlformats.org/officeDocument/2006/relationships/notesMaster" Target="/ppt/notesMasters/notesMaster1.xml" Id="R6bf08b7d3dac49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31871e80ba47cc" /><Relationship Type="http://schemas.openxmlformats.org/officeDocument/2006/relationships/notesMaster" Target="/ppt/notesMasters/notesMaster1.xml" Id="R4a532aaaba364f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da934e8bc04060" /><Relationship Type="http://schemas.openxmlformats.org/officeDocument/2006/relationships/notesMaster" Target="/ppt/notesMasters/notesMaster1.xml" Id="R5806ff59b51945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055936c77d46d0" /><Relationship Type="http://schemas.openxmlformats.org/officeDocument/2006/relationships/notesMaster" Target="/ppt/notesMasters/notesMaster1.xml" Id="Red05762e7b1547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6785621fc34167" /><Relationship Type="http://schemas.openxmlformats.org/officeDocument/2006/relationships/notesMaster" Target="/ppt/notesMasters/notesMaster1.xml" Id="Ra6100fafa04648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0d081b7ca04132" /><Relationship Type="http://schemas.openxmlformats.org/officeDocument/2006/relationships/notesMaster" Target="/ppt/notesMasters/notesMaster1.xml" Id="R5ff578ccbe0745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e7c9b328c342bd" /><Relationship Type="http://schemas.openxmlformats.org/officeDocument/2006/relationships/notesMaster" Target="/ppt/notesMasters/notesMaster1.xml" Id="Rb1133fd4243546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stating the project goal: give a construction engineer one workspace for project files, evidence-based questions, and early cost estimates. The prototype runs locally and uses synthetic data for the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generated illustration represents the target engineering workflow. During the live demo, show the actual ConstructAI interface and a project with uploaded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application separates serving, retrieval, prediction and experiment tracking. This makes it possible to replace or retrain one component without redesigning the whole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is the production path in this prototype. It keeps answers project-specific and traceable. Clarify that uploading a document does not fine-tune Qwen; it creates retrievable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supervised Random Forest is the reliable predictive component. The LoRA run proves a fine-tuning pipeline exists, but model governance prevented promotion because its citation behavior did not meet the quality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MAE means the average absolute prediction error. The Random Forest reduced it from about 15.12 million rupees for the simple mean baseline to 1.75 million rupees. These numbers validate the pipeline, not real-world commercial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MLflow dashboard after this slide. Explain the drift simulation, candidate evaluation, controlled promotion and rollback. The demo registry was isolated so normal production serving stayed 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presenting, confirm Ollama, the FastAPI application and MLflow are running. Use a prepared project with a short document so the answer and citation appear quickly.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describing this as a credible prototype architecture rather than a production construction estimator. The next investment should be expert-reviewed data and formal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5326bf60804e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73780f73764e76" /><Relationship Type="http://schemas.openxmlformats.org/officeDocument/2006/relationships/slideLayout" Target="/ppt/slideLayouts/slideLayout1.xml" Id="R7ded29b6369346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ed29b6369346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d6bf54c113441e" /><Relationship Type="http://schemas.openxmlformats.org/officeDocument/2006/relationships/image" Target="/ppt/media/image.png" Id="Rb02aee2d25b1433f" /><Relationship Type="http://schemas.openxmlformats.org/officeDocument/2006/relationships/notesSlide" Target="/ppt/notesSlides/notesSlide1.xml" Id="Ra4fb3272f1fe42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6a7cca4e234c0d" /><Relationship Type="http://schemas.openxmlformats.org/officeDocument/2006/relationships/image" Target="/ppt/media/image2.png" Id="R0ec454327b2a49de" /><Relationship Type="http://schemas.openxmlformats.org/officeDocument/2006/relationships/notesSlide" Target="/ppt/notesSlides/notesSlide2.xml" Id="R6cf8699947fc45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29b0fc28a54a08" /><Relationship Type="http://schemas.openxmlformats.org/officeDocument/2006/relationships/notesSlide" Target="/ppt/notesSlides/notesSlide3.xml" Id="Re93e59ad3b3d46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73894f98034ef5" /><Relationship Type="http://schemas.openxmlformats.org/officeDocument/2006/relationships/notesSlide" Target="/ppt/notesSlides/notesSlide4.xml" Id="R406bebebfcdd4b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6611c3b65d54906" /><Relationship Type="http://schemas.openxmlformats.org/officeDocument/2006/relationships/notesSlide" Target="/ppt/notesSlides/notesSlide5.xml" Id="R19aab6b200f74f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85f2d2149684a8e" /><Relationship Type="http://schemas.openxmlformats.org/officeDocument/2006/relationships/chart" Target="/ppt/slides/charts/chart1.xml" Id="R024e22ba2aa541bf" /><Relationship Type="http://schemas.openxmlformats.org/officeDocument/2006/relationships/notesSlide" Target="/ppt/notesSlides/notesSlide6.xml" Id="R63f48322c5a64a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5d4dc8c5374d4a" /><Relationship Type="http://schemas.openxmlformats.org/officeDocument/2006/relationships/notesSlide" Target="/ppt/notesSlides/notesSlide7.xml" Id="R835e353b53094b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08299cdfae4fbe" /><Relationship Type="http://schemas.openxmlformats.org/officeDocument/2006/relationships/notesSlide" Target="/ppt/notesSlides/notesSlide8.xml" Id="R5497fc52199c44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80d5e280bc441d" /><Relationship Type="http://schemas.openxmlformats.org/officeDocument/2006/relationships/notesSlide" Target="/ppt/notesSlides/notesSlide9.xml" Id="R8a3edf0cd1af469b" /></Relationships>
</file>

<file path=ppt/slides/charts/chart1.xml><?xml version="1.0" encoding="utf-8"?>
<c:chartSpace xmlns:c="http://schemas.openxmlformats.org/drawingml/2006/chart">
  <c:lang val="en-US"/>
  <c:chart>
    <c:plotArea>
      <c:barChart>
        <c:barDir val="bar"/>
        <c:grouping val="clustered"/>
        <c:varyColors val="1"/>
        <c:ser>
          <c:idx val="0"/>
          <c:order val="0"/>
          <c:tx>
            <c:v>MAE (INR millions)</c:v>
          </c:tx>
          <c:spPr>
            <a:solidFill xmlns:a="http://schemas.openxmlformats.org/drawingml/2006/main">
              <a:srgbClr val="2C7A78"/>
            </a:solidFill>
          </c:spPr>
          <c:dPt>
            <c:idx val="1"/>
            <c:invertIfNegative val="0"/>
            <c:spPr>
              <a:solidFill xmlns:a="http://schemas.openxmlformats.org/drawingml/2006/main">
                <a:srgbClr val="DDE4E6"/>
              </a:solidFill>
            </c:spPr>
          </c:dPt>
          <c:cat>
            <c:strLit>
              <c:ptCount val="2"/>
              <c:pt idx="0">
                <c:v>Random Forest</c:v>
              </c:pt>
              <c:pt idx="1">
                <c:v>Mean baseline</c:v>
              </c:pt>
            </c:strLit>
          </c:cat>
          <c:val>
            <c:numLit>
              <c:formatCode>General</c:formatCode>
              <c:ptCount val="2"/>
              <c:pt idx="0">
                <c:v>1.75</c:v>
              </c:pt>
              <c:pt idx="1">
                <c:v>15.12</c:v>
              </c:pt>
            </c:numLit>
          </c:val>
        </c:ser>
        <c:dLbls>
          <c:txPr>
            <a:bodyPr xmlns:a="http://schemas.openxmlformats.org/drawingml/2006/main" anchorCtr="1"/>
            <a:lstStyle xmlns:a="http://schemas.openxmlformats.org/drawingml/2006/main"/>
            <a:p xmlns:a="http://schemas.openxmlformats.org/drawingml/2006/main">
              <a:pPr>
                <a:defRPr sz="1050" b="1">
                  <a:solidFill>
                    <a:srgbClr val="12212B"/>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6D1C7"/>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MAE (INR millions)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6B72"/>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b="1">
                <a:solidFill>
                  <a:srgbClr val="12212B"/>
                </a:solidFill>
                <a:latin typeface="Arial"/>
                <a:ea typeface="Arial"/>
                <a:cs typeface="Arial"/>
              </a:defRPr>
            </a:pPr>
          </a:p>
        </c:txPr>
        <c:crossAx val="48650112"/>
        <c:crossBetween val="between"/>
      </c:valAx>
      <c:spPr>
        <a:solidFill xmlns:a="http://schemas.openxmlformats.org/drawingml/2006/main">
          <a:srgbClr val="F5F1E8"/>
        </a:solidFill>
        <a:ln xmlns:a="http://schemas.openxmlformats.org/drawingml/2006/main" w="0">
          <a:noFill/>
        </a:ln>
      </c:spPr>
    </c:plotArea>
    <c:plotVisOnly val="1"/>
  </c:chart>
  <c:spPr>
    <a:solidFill xmlns:a="http://schemas.openxmlformats.org/drawingml/2006/main">
      <a:srgbClr val="F5F1E8"/>
    </a:solidFill>
    <a:ln xmlns:a="http://schemas.openxmlformats.org/drawingml/2006/main" w="0">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02aee2d25b1433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08EF8ED-E7C1-4E71-8EBA-91C0FBF8421A}"/>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8131B">
              <a:alpha val="80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8A0EA39-2DFD-44AF-99D5-FFD81D54F8CC}"/>
              </a:ext>
            </a:extLst>
          </p:cNvPr>
          <p:cNvSpPr>
            <a:spLocks xmlns:a="http://schemas.openxmlformats.org/drawingml/2006/main" noGrp="1"/>
          </p:cNvSpPr>
          <p:nvPr/>
        </p:nvSpPr>
        <p:spPr>
          <a:xfrm xmlns:a="http://schemas.openxmlformats.org/drawingml/2006/main">
            <a:off x="647700" y="723900"/>
            <a:ext cx="2133600" cy="285750"/>
          </a:xfrm>
          <a:prstGeom xmlns:a="http://schemas.openxmlformats.org/drawingml/2006/main" prst="roundRect">
            <a:avLst>
              <a:gd name="adj" fmla="val 50000"/>
            </a:avLst>
          </a:prstGeom>
          <a:solidFill xmlns:a="http://schemas.openxmlformats.org/drawingml/2006/main">
            <a:srgbClr val="DCEBE7">
              <a:alpha val="13333"/>
            </a:srgbClr>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2D5502-91CC-4A1F-A87F-B2FC786A0DEE}"/>
              </a:ext>
            </a:extLst>
          </p:cNvPr>
          <p:cNvSpPr>
            <a:spLocks xmlns:a="http://schemas.openxmlformats.org/drawingml/2006/main" noGrp="1"/>
          </p:cNvSpPr>
          <p:nvPr/>
        </p:nvSpPr>
        <p:spPr>
          <a:xfrm xmlns:a="http://schemas.openxmlformats.org/drawingml/2006/main">
            <a:off x="742950" y="74295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BCE4DA"/>
                </a:solidFill>
                <a:latin typeface="Arial"/>
                <a:ea typeface="Arial"/>
                <a:cs typeface="Arial"/>
              </a:defRPr>
            </a:pPr>
            <a:r>
              <a:rPr sz="900" b="1">
                <a:solidFill>
                  <a:srgbClr val="BCE4DA"/>
                </a:solidFill>
                <a:latin typeface="Arial"/>
                <a:ea typeface="Arial"/>
                <a:cs typeface="Arial"/>
              </a:rPr>
              <a:t>MLOPS REVIEW PROTOTYPE</a:t>
            </a:r>
          </a:p>
        </p:txBody>
      </p:sp>
      <p:sp>
        <p:nvSpPr>
          <p:cNvPr id="5" name="">
            <a:extLst xmlns:a="http://schemas.openxmlformats.org/drawingml/2006/main">
              <a:ext uri="{FF2B5EF4-FFF2-40B4-BE49-F238E27FC236}">
                <a16:creationId xmlns:a16="http://schemas.microsoft.com/office/drawing/2014/main" id="{FDD9B052-E571-412C-ADF5-E8678632817D}"/>
              </a:ext>
            </a:extLst>
          </p:cNvPr>
          <p:cNvSpPr>
            <a:spLocks xmlns:a="http://schemas.openxmlformats.org/drawingml/2006/main" noGrp="1"/>
          </p:cNvSpPr>
          <p:nvPr/>
        </p:nvSpPr>
        <p:spPr>
          <a:xfrm xmlns:a="http://schemas.openxmlformats.org/drawingml/2006/main">
            <a:off x="647700" y="1428750"/>
            <a:ext cx="571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ConstructAI</a:t>
            </a:r>
          </a:p>
        </p:txBody>
      </p:sp>
      <p:sp>
        <p:nvSpPr>
          <p:cNvPr id="6" name="">
            <a:extLst xmlns:a="http://schemas.openxmlformats.org/drawingml/2006/main">
              <a:ext uri="{FF2B5EF4-FFF2-40B4-BE49-F238E27FC236}">
                <a16:creationId xmlns:a16="http://schemas.microsoft.com/office/drawing/2014/main" id="{407DDED6-AF3D-42D8-A54A-70C66F520538}"/>
              </a:ext>
            </a:extLst>
          </p:cNvPr>
          <p:cNvSpPr>
            <a:spLocks xmlns:a="http://schemas.openxmlformats.org/drawingml/2006/main" noGrp="1"/>
          </p:cNvSpPr>
          <p:nvPr/>
        </p:nvSpPr>
        <p:spPr>
          <a:xfrm xmlns:a="http://schemas.openxmlformats.org/drawingml/2006/main">
            <a:off x="647700" y="2286000"/>
            <a:ext cx="5810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EAF1F3"/>
                </a:solidFill>
                <a:latin typeface="Arial"/>
                <a:ea typeface="Arial"/>
                <a:cs typeface="Arial"/>
              </a:defRPr>
            </a:pPr>
            <a:r>
              <a:rPr sz="2025" b="0">
                <a:solidFill>
                  <a:srgbClr val="EAF1F3"/>
                </a:solidFill>
                <a:latin typeface="Arial"/>
                <a:ea typeface="Arial"/>
                <a:cs typeface="Arial"/>
              </a:rPr>
              <a:t>A local construction engineering assistant with project RAG, cost prediction and MLOps</a:t>
            </a:r>
          </a:p>
        </p:txBody>
      </p:sp>
      <p:sp>
        <p:nvSpPr>
          <p:cNvPr id="7" name="">
            <a:extLst xmlns:a="http://schemas.openxmlformats.org/drawingml/2006/main">
              <a:ext uri="{FF2B5EF4-FFF2-40B4-BE49-F238E27FC236}">
                <a16:creationId xmlns:a16="http://schemas.microsoft.com/office/drawing/2014/main" id="{10EFC968-794A-4990-A2C3-495D13AB58C1}"/>
              </a:ext>
            </a:extLst>
          </p:cNvPr>
          <p:cNvSpPr>
            <a:spLocks xmlns:a="http://schemas.openxmlformats.org/drawingml/2006/main" noGrp="1"/>
          </p:cNvSpPr>
          <p:nvPr/>
        </p:nvSpPr>
        <p:spPr>
          <a:xfrm xmlns:a="http://schemas.openxmlformats.org/drawingml/2006/main">
            <a:off x="647700" y="3886200"/>
            <a:ext cx="1809750" cy="0"/>
          </a:xfrm>
          <a:prstGeom xmlns:a="http://schemas.openxmlformats.org/drawingml/2006/main" prst="line">
            <a:avLst/>
          </a:prstGeom>
          <a:noFill xmlns:a="http://schemas.openxmlformats.org/drawingml/2006/main"/>
          <a:ln xmlns:a="http://schemas.openxmlformats.org/drawingml/2006/main" w="47625">
            <a:solidFill>
              <a:srgbClr val="E38B35"/>
            </a:solidFill>
            <a:prstDash val="solid"/>
          </a:ln>
        </p:spPr>
      </p:sp>
      <p:sp>
        <p:nvSpPr>
          <p:cNvPr id="8" name="">
            <a:extLst xmlns:a="http://schemas.openxmlformats.org/drawingml/2006/main">
              <a:ext uri="{FF2B5EF4-FFF2-40B4-BE49-F238E27FC236}">
                <a16:creationId xmlns:a16="http://schemas.microsoft.com/office/drawing/2014/main" id="{C122ACB6-FF0F-4C07-B1B3-82ED0FF4732D}"/>
              </a:ext>
            </a:extLst>
          </p:cNvPr>
          <p:cNvSpPr>
            <a:spLocks xmlns:a="http://schemas.openxmlformats.org/drawingml/2006/main" noGrp="1"/>
          </p:cNvSpPr>
          <p:nvPr/>
        </p:nvSpPr>
        <p:spPr>
          <a:xfrm xmlns:a="http://schemas.openxmlformats.org/drawingml/2006/main">
            <a:off x="647700" y="417195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C9D4D8"/>
                </a:solidFill>
                <a:latin typeface="Arial"/>
                <a:ea typeface="Arial"/>
                <a:cs typeface="Arial"/>
              </a:defRPr>
            </a:pPr>
            <a:r>
              <a:rPr sz="1200" b="0">
                <a:solidFill>
                  <a:srgbClr val="C9D4D8"/>
                </a:solidFill>
                <a:latin typeface="Arial"/>
                <a:ea typeface="Arial"/>
                <a:cs typeface="Arial"/>
              </a:rPr>
              <a:t>Foundation model  •  Random Forest  •  MLflow  •  Monitoring</a:t>
            </a:r>
          </a:p>
        </p:txBody>
      </p:sp>
      <p:sp>
        <p:nvSpPr>
          <p:cNvPr id="9" name="">
            <a:extLst xmlns:a="http://schemas.openxmlformats.org/drawingml/2006/main">
              <a:ext uri="{FF2B5EF4-FFF2-40B4-BE49-F238E27FC236}">
                <a16:creationId xmlns:a16="http://schemas.microsoft.com/office/drawing/2014/main" id="{7393CE17-003E-4F63-AD09-2ADBFE86C221}"/>
              </a:ext>
            </a:extLst>
          </p:cNvPr>
          <p:cNvSpPr>
            <a:spLocks xmlns:a="http://schemas.openxmlformats.org/drawingml/2006/main" noGrp="1"/>
          </p:cNvSpPr>
          <p:nvPr/>
        </p:nvSpPr>
        <p:spPr>
          <a:xfrm xmlns:a="http://schemas.openxmlformats.org/drawingml/2006/main">
            <a:off x="647700" y="600075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C9D4D8"/>
                </a:solidFill>
                <a:latin typeface="Arial"/>
                <a:ea typeface="Arial"/>
                <a:cs typeface="Arial"/>
              </a:defRPr>
            </a:pPr>
            <a:r>
              <a:rPr sz="1050" b="0">
                <a:solidFill>
                  <a:srgbClr val="C9D4D8"/>
                </a:solidFill>
                <a:latin typeface="Arial"/>
                <a:ea typeface="Arial"/>
                <a:cs typeface="Arial"/>
              </a:rPr>
              <a:t>Review deck  |  Synthetic-data prototype</a:t>
            </a:r>
          </a:p>
        </p:txBody>
      </p:sp>
    </p:spTree>
    <p:extLst>
      <p:ext uri="{BB962C8B-B14F-4D97-AF65-F5344CB8AC3E}">
        <p14:creationId xmlns:p14="http://schemas.microsoft.com/office/powerpoint/2010/main" val="1899554653"/>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6404A93-EBF1-4E37-82B8-FF8A274BD6B8}"/>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01  PROJECT NEED</a:t>
            </a:r>
          </a:p>
        </p:txBody>
      </p:sp>
      <p:sp>
        <p:nvSpPr>
          <p:cNvPr id="2" name="">
            <a:extLst xmlns:a="http://schemas.openxmlformats.org/drawingml/2006/main">
              <a:ext uri="{FF2B5EF4-FFF2-40B4-BE49-F238E27FC236}">
                <a16:creationId xmlns:a16="http://schemas.microsoft.com/office/drawing/2014/main" id="{51C69F0E-1E71-40DC-A4BB-832069E8BF8A}"/>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One workspace for project knowledge and early decisions</a:t>
            </a:r>
          </a:p>
        </p:txBody>
      </p:sp>
      <p:sp>
        <p:nvSpPr>
          <p:cNvPr id="3" name="">
            <a:extLst xmlns:a="http://schemas.openxmlformats.org/drawingml/2006/main">
              <a:ext uri="{FF2B5EF4-FFF2-40B4-BE49-F238E27FC236}">
                <a16:creationId xmlns:a16="http://schemas.microsoft.com/office/drawing/2014/main" id="{DF387CCE-DAE9-425B-9B83-BADE175C8237}"/>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The engineer creates projects, uploads evidence and asks questions in a familiar chat interface.</a:t>
            </a:r>
          </a:p>
        </p:txBody>
      </p:sp>
      <p:sp>
        <p:nvSpPr>
          <p:cNvPr id="4" name="">
            <a:extLst xmlns:a="http://schemas.openxmlformats.org/drawingml/2006/main">
              <a:ext uri="{FF2B5EF4-FFF2-40B4-BE49-F238E27FC236}">
                <a16:creationId xmlns:a16="http://schemas.microsoft.com/office/drawing/2014/main" id="{D5FCF64E-36CA-4DFD-A50B-A023B8C54606}"/>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ec454327b2a49de"/>
          <a:srcRect xmlns:a="http://schemas.openxmlformats.org/drawingml/2006/main" l="9426" t="0" r="9426" b="0"/>
          <a:stretch xmlns:a="http://schemas.openxmlformats.org/drawingml/2006/main">
            <a:fillRect l="0" t="0" r="0" b="0"/>
          </a:stretch>
        </p:blipFill>
        <p:spPr>
          <a:xfrm xmlns:a="http://schemas.openxmlformats.org/drawingml/2006/main">
            <a:off x="609600" y="1790700"/>
            <a:ext cx="5905500" cy="4095750"/>
          </a:xfrm>
          <a:prstGeom xmlns:a="http://schemas.openxmlformats.org/drawingml/2006/main" prst="roundRect">
            <a:avLst>
              <a:gd name="adj" fmla="val 5116"/>
            </a:avLst>
          </a:prstGeom>
        </p:spPr>
      </p:pic>
      <p:sp>
        <p:nvSpPr>
          <p:cNvPr id="6" name="">
            <a:extLst xmlns:a="http://schemas.openxmlformats.org/drawingml/2006/main">
              <a:ext uri="{FF2B5EF4-FFF2-40B4-BE49-F238E27FC236}">
                <a16:creationId xmlns:a16="http://schemas.microsoft.com/office/drawing/2014/main" id="{615EF4E5-F413-4430-B75A-A81EDB267A24}"/>
              </a:ext>
            </a:extLst>
          </p:cNvPr>
          <p:cNvSpPr>
            <a:spLocks xmlns:a="http://schemas.openxmlformats.org/drawingml/2006/main" noGrp="1"/>
          </p:cNvSpPr>
          <p:nvPr/>
        </p:nvSpPr>
        <p:spPr>
          <a:xfrm xmlns:a="http://schemas.openxmlformats.org/drawingml/2006/main">
            <a:off x="7029450" y="18097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E38B35"/>
                </a:solidFill>
                <a:latin typeface="Arial"/>
                <a:ea typeface="Arial"/>
                <a:cs typeface="Arial"/>
              </a:defRPr>
            </a:pPr>
            <a:r>
              <a:rPr sz="1350" b="1">
                <a:solidFill>
                  <a:srgbClr val="E38B35"/>
                </a:solidFill>
                <a:latin typeface="Arial"/>
                <a:ea typeface="Arial"/>
                <a:cs typeface="Arial"/>
              </a:rPr>
              <a:t>The problem</a:t>
            </a:r>
          </a:p>
        </p:txBody>
      </p:sp>
      <p:sp>
        <p:nvSpPr>
          <p:cNvPr id="7" name="">
            <a:extLst xmlns:a="http://schemas.openxmlformats.org/drawingml/2006/main">
              <a:ext uri="{FF2B5EF4-FFF2-40B4-BE49-F238E27FC236}">
                <a16:creationId xmlns:a16="http://schemas.microsoft.com/office/drawing/2014/main" id="{DCCA9624-2069-4012-830C-3AA8617DDA4E}"/>
              </a:ext>
            </a:extLst>
          </p:cNvPr>
          <p:cNvSpPr>
            <a:spLocks xmlns:a="http://schemas.openxmlformats.org/drawingml/2006/main" noGrp="1"/>
          </p:cNvSpPr>
          <p:nvPr/>
        </p:nvSpPr>
        <p:spPr>
          <a:xfrm xmlns:a="http://schemas.openxmlformats.org/drawingml/2006/main">
            <a:off x="7029450" y="2171700"/>
            <a:ext cx="4095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2212B"/>
                </a:solidFill>
                <a:latin typeface="Arial"/>
                <a:ea typeface="Arial"/>
                <a:cs typeface="Arial"/>
              </a:defRPr>
            </a:pPr>
            <a:r>
              <a:rPr sz="1650" b="1">
                <a:solidFill>
                  <a:srgbClr val="12212B"/>
                </a:solidFill>
                <a:latin typeface="Arial"/>
                <a:ea typeface="Arial"/>
                <a:cs typeface="Arial"/>
              </a:rPr>
              <a:t>Project information is spread across drawings, specifications, estimates and notes. Finding one reliable answer takes time.</a:t>
            </a:r>
          </a:p>
        </p:txBody>
      </p:sp>
      <p:sp>
        <p:nvSpPr>
          <p:cNvPr id="8" name="">
            <a:extLst xmlns:a="http://schemas.openxmlformats.org/drawingml/2006/main">
              <a:ext uri="{FF2B5EF4-FFF2-40B4-BE49-F238E27FC236}">
                <a16:creationId xmlns:a16="http://schemas.microsoft.com/office/drawing/2014/main" id="{C2829791-01D3-4AAE-A0E3-12C94616AF6F}"/>
              </a:ext>
            </a:extLst>
          </p:cNvPr>
          <p:cNvSpPr>
            <a:spLocks xmlns:a="http://schemas.openxmlformats.org/drawingml/2006/main" noGrp="1"/>
          </p:cNvSpPr>
          <p:nvPr/>
        </p:nvSpPr>
        <p:spPr>
          <a:xfrm xmlns:a="http://schemas.openxmlformats.org/drawingml/2006/main">
            <a:off x="7029450" y="3333750"/>
            <a:ext cx="390525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9" name="">
            <a:extLst xmlns:a="http://schemas.openxmlformats.org/drawingml/2006/main">
              <a:ext uri="{FF2B5EF4-FFF2-40B4-BE49-F238E27FC236}">
                <a16:creationId xmlns:a16="http://schemas.microsoft.com/office/drawing/2014/main" id="{E83DA476-07EF-4ED9-89C0-20C53DDF41ED}"/>
              </a:ext>
            </a:extLst>
          </p:cNvPr>
          <p:cNvSpPr>
            <a:spLocks xmlns:a="http://schemas.openxmlformats.org/drawingml/2006/main" noGrp="1"/>
          </p:cNvSpPr>
          <p:nvPr/>
        </p:nvSpPr>
        <p:spPr>
          <a:xfrm xmlns:a="http://schemas.openxmlformats.org/drawingml/2006/main">
            <a:off x="7029450" y="35242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2C7A78"/>
                </a:solidFill>
                <a:latin typeface="Arial"/>
                <a:ea typeface="Arial"/>
                <a:cs typeface="Arial"/>
              </a:defRPr>
            </a:pPr>
            <a:r>
              <a:rPr sz="1350" b="1">
                <a:solidFill>
                  <a:srgbClr val="2C7A78"/>
                </a:solidFill>
                <a:latin typeface="Arial"/>
                <a:ea typeface="Arial"/>
                <a:cs typeface="Arial"/>
              </a:rPr>
              <a:t>Prototype experience</a:t>
            </a:r>
          </a:p>
        </p:txBody>
      </p:sp>
      <p:sp>
        <p:nvSpPr>
          <p:cNvPr id="10" name="">
            <a:extLst xmlns:a="http://schemas.openxmlformats.org/drawingml/2006/main">
              <a:ext uri="{FF2B5EF4-FFF2-40B4-BE49-F238E27FC236}">
                <a16:creationId xmlns:a16="http://schemas.microsoft.com/office/drawing/2014/main" id="{8922209A-D534-4C28-B79D-D4BEC7CCBA53}"/>
              </a:ext>
            </a:extLst>
          </p:cNvPr>
          <p:cNvSpPr>
            <a:spLocks xmlns:a="http://schemas.openxmlformats.org/drawingml/2006/main" noGrp="1"/>
          </p:cNvSpPr>
          <p:nvPr/>
        </p:nvSpPr>
        <p:spPr>
          <a:xfrm xmlns:a="http://schemas.openxmlformats.org/drawingml/2006/main">
            <a:off x="7029450" y="3905250"/>
            <a:ext cx="4286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1  Create multiple construction projects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2  Upload PDF, TXT or CSV evidence</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3  Ask project-specific questions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4  Receive answers with source references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5  Request a preliminary cost estimate</a:t>
            </a:r>
          </a:p>
        </p:txBody>
      </p:sp>
      <p:sp>
        <p:nvSpPr>
          <p:cNvPr id="11" name="">
            <a:extLst xmlns:a="http://schemas.openxmlformats.org/drawingml/2006/main">
              <a:ext uri="{FF2B5EF4-FFF2-40B4-BE49-F238E27FC236}">
                <a16:creationId xmlns:a16="http://schemas.microsoft.com/office/drawing/2014/main" id="{0515D1CD-8075-4AB5-AB9E-3D69F0C27A0E}"/>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12" name="">
            <a:extLst xmlns:a="http://schemas.openxmlformats.org/drawingml/2006/main">
              <a:ext uri="{FF2B5EF4-FFF2-40B4-BE49-F238E27FC236}">
                <a16:creationId xmlns:a16="http://schemas.microsoft.com/office/drawing/2014/main" id="{83BF8EC3-F78A-4710-B14D-F262345F4500}"/>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02</a:t>
            </a:r>
          </a:p>
        </p:txBody>
      </p:sp>
    </p:spTree>
    <p:extLst>
      <p:ext uri="{BB962C8B-B14F-4D97-AF65-F5344CB8AC3E}">
        <p14:creationId xmlns:p14="http://schemas.microsoft.com/office/powerpoint/2010/main" val="1643385281"/>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E0FBF32-B577-4060-A17A-B8413C7F97C6}"/>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02  SYSTEM DESIGN</a:t>
            </a:r>
          </a:p>
        </p:txBody>
      </p:sp>
      <p:sp>
        <p:nvSpPr>
          <p:cNvPr id="2" name="">
            <a:extLst xmlns:a="http://schemas.openxmlformats.org/drawingml/2006/main">
              <a:ext uri="{FF2B5EF4-FFF2-40B4-BE49-F238E27FC236}">
                <a16:creationId xmlns:a16="http://schemas.microsoft.com/office/drawing/2014/main" id="{A3C335C2-9065-42B2-A5DF-7CF8761B23B9}"/>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Local architecture connects chat, retrieval, prediction and tracking</a:t>
            </a:r>
          </a:p>
        </p:txBody>
      </p:sp>
      <p:sp>
        <p:nvSpPr>
          <p:cNvPr id="3" name="">
            <a:extLst xmlns:a="http://schemas.openxmlformats.org/drawingml/2006/main">
              <a:ext uri="{FF2B5EF4-FFF2-40B4-BE49-F238E27FC236}">
                <a16:creationId xmlns:a16="http://schemas.microsoft.com/office/drawing/2014/main" id="{0DDAF675-1894-4578-9383-6F372DEE1BB1}"/>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FastAPI coordinates the user experience while each model service remains independently observable.</a:t>
            </a:r>
          </a:p>
        </p:txBody>
      </p:sp>
      <p:sp>
        <p:nvSpPr>
          <p:cNvPr id="4" name="">
            <a:extLst xmlns:a="http://schemas.openxmlformats.org/drawingml/2006/main">
              <a:ext uri="{FF2B5EF4-FFF2-40B4-BE49-F238E27FC236}">
                <a16:creationId xmlns:a16="http://schemas.microsoft.com/office/drawing/2014/main" id="{2FA35360-FFFC-49B3-9026-DC61C43A69FF}"/>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2E514177-A57A-48A5-9D9D-D093DBCEAFA6}"/>
              </a:ext>
            </a:extLst>
          </p:cNvPr>
          <p:cNvSpPr>
            <a:spLocks xmlns:a="http://schemas.openxmlformats.org/drawingml/2006/main" noGrp="1"/>
          </p:cNvSpPr>
          <p:nvPr/>
        </p:nvSpPr>
        <p:spPr>
          <a:xfrm xmlns:a="http://schemas.openxmlformats.org/drawingml/2006/main">
            <a:off x="590550" y="2571750"/>
            <a:ext cx="1428750" cy="876300"/>
          </a:xfrm>
          <a:prstGeom xmlns:a="http://schemas.openxmlformats.org/drawingml/2006/main" prst="roundRect">
            <a:avLst>
              <a:gd name="adj" fmla="val 19565"/>
            </a:avLst>
          </a:prstGeom>
          <a:solidFill xmlns:a="http://schemas.openxmlformats.org/drawingml/2006/main">
            <a:srgbClr val="12304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ENGINEER</a:t>
            </a:r>
          </a:p>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Web chat</a:t>
            </a:r>
          </a:p>
        </p:txBody>
      </p:sp>
      <p:sp>
        <p:nvSpPr>
          <p:cNvPr id="6" name="">
            <a:extLst xmlns:a="http://schemas.openxmlformats.org/drawingml/2006/main">
              <a:ext uri="{FF2B5EF4-FFF2-40B4-BE49-F238E27FC236}">
                <a16:creationId xmlns:a16="http://schemas.microsoft.com/office/drawing/2014/main" id="{06805A1F-76F5-48F3-9BE3-3CFE993BDE6C}"/>
              </a:ext>
            </a:extLst>
          </p:cNvPr>
          <p:cNvSpPr>
            <a:spLocks xmlns:a="http://schemas.openxmlformats.org/drawingml/2006/main" noGrp="1"/>
          </p:cNvSpPr>
          <p:nvPr/>
        </p:nvSpPr>
        <p:spPr>
          <a:xfrm xmlns:a="http://schemas.openxmlformats.org/drawingml/2006/main">
            <a:off x="2571750" y="2343150"/>
            <a:ext cx="1809750"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9525">
            <a:solidFill>
              <a:srgbClr val="D6D1C7"/>
            </a:solid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FASTAPI</a:t>
            </a:r>
          </a:p>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Projects • uploads</a:t>
            </a:r>
          </a:p>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chat • estimates</a:t>
            </a:r>
          </a:p>
        </p:txBody>
      </p:sp>
      <p:sp>
        <p:nvSpPr>
          <p:cNvPr id="7" name="">
            <a:extLst xmlns:a="http://schemas.openxmlformats.org/drawingml/2006/main">
              <a:ext uri="{FF2B5EF4-FFF2-40B4-BE49-F238E27FC236}">
                <a16:creationId xmlns:a16="http://schemas.microsoft.com/office/drawing/2014/main" id="{4F8C89C5-A987-4548-9A1D-C781C0528003}"/>
              </a:ext>
            </a:extLst>
          </p:cNvPr>
          <p:cNvSpPr>
            <a:spLocks xmlns:a="http://schemas.openxmlformats.org/drawingml/2006/main" noGrp="1"/>
          </p:cNvSpPr>
          <p:nvPr/>
        </p:nvSpPr>
        <p:spPr>
          <a:xfrm xmlns:a="http://schemas.openxmlformats.org/drawingml/2006/main">
            <a:off x="4991100" y="1771650"/>
            <a:ext cx="1809750" cy="990600"/>
          </a:xfrm>
          <a:prstGeom xmlns:a="http://schemas.openxmlformats.org/drawingml/2006/main" prst="roundRect">
            <a:avLst>
              <a:gd name="adj" fmla="val 17308"/>
            </a:avLst>
          </a:prstGeom>
          <a:solidFill xmlns:a="http://schemas.openxmlformats.org/drawingml/2006/main">
            <a:srgbClr val="DCEBE7"/>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2C7A78"/>
                </a:solidFill>
                <a:latin typeface="Arial"/>
                <a:ea typeface="Arial"/>
                <a:cs typeface="Arial"/>
              </a:defRPr>
            </a:pPr>
            <a:r>
              <a:rPr sz="1275" b="1">
                <a:solidFill>
                  <a:srgbClr val="2C7A78"/>
                </a:solidFill>
                <a:latin typeface="Arial"/>
                <a:ea typeface="Arial"/>
                <a:cs typeface="Arial"/>
              </a:rPr>
              <a:t>PROJECT STORE</a:t>
            </a:r>
          </a:p>
          <a:p xmlns:a="http://schemas.openxmlformats.org/drawingml/2006/main">
            <a:pPr algn="ctr">
              <a:defRPr sz="1275" b="1">
                <a:solidFill>
                  <a:srgbClr val="2C7A78"/>
                </a:solidFill>
                <a:latin typeface="Arial"/>
                <a:ea typeface="Arial"/>
                <a:cs typeface="Arial"/>
              </a:defRPr>
            </a:pPr>
            <a:r>
              <a:rPr sz="1275" b="1">
                <a:solidFill>
                  <a:srgbClr val="2C7A78"/>
                </a:solidFill>
                <a:latin typeface="Arial"/>
                <a:ea typeface="Arial"/>
                <a:cs typeface="Arial"/>
              </a:rPr>
              <a:t>Files + metadata</a:t>
            </a:r>
          </a:p>
        </p:txBody>
      </p:sp>
      <p:sp>
        <p:nvSpPr>
          <p:cNvPr id="8" name="">
            <a:extLst xmlns:a="http://schemas.openxmlformats.org/drawingml/2006/main">
              <a:ext uri="{FF2B5EF4-FFF2-40B4-BE49-F238E27FC236}">
                <a16:creationId xmlns:a16="http://schemas.microsoft.com/office/drawing/2014/main" id="{2BCD349C-7BF4-4021-81E2-BD881DD4EECB}"/>
              </a:ext>
            </a:extLst>
          </p:cNvPr>
          <p:cNvSpPr>
            <a:spLocks xmlns:a="http://schemas.openxmlformats.org/drawingml/2006/main" noGrp="1"/>
          </p:cNvSpPr>
          <p:nvPr/>
        </p:nvSpPr>
        <p:spPr>
          <a:xfrm xmlns:a="http://schemas.openxmlformats.org/drawingml/2006/main">
            <a:off x="4991100" y="3181350"/>
            <a:ext cx="1809750" cy="990600"/>
          </a:xfrm>
          <a:prstGeom xmlns:a="http://schemas.openxmlformats.org/drawingml/2006/main" prst="roundRect">
            <a:avLst>
              <a:gd name="adj" fmla="val 17308"/>
            </a:avLst>
          </a:prstGeom>
          <a:solidFill xmlns:a="http://schemas.openxmlformats.org/drawingml/2006/main">
            <a:srgbClr val="F7E5D2"/>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2212B"/>
                </a:solidFill>
                <a:latin typeface="Arial"/>
                <a:ea typeface="Arial"/>
                <a:cs typeface="Arial"/>
              </a:defRPr>
            </a:pPr>
            <a:r>
              <a:rPr sz="1275" b="1">
                <a:solidFill>
                  <a:srgbClr val="12212B"/>
                </a:solidFill>
                <a:latin typeface="Arial"/>
                <a:ea typeface="Arial"/>
                <a:cs typeface="Arial"/>
              </a:rPr>
              <a:t>RETRIEVAL</a:t>
            </a:r>
          </a:p>
          <a:p xmlns:a="http://schemas.openxmlformats.org/drawingml/2006/main">
            <a:pPr algn="ctr">
              <a:defRPr sz="1275" b="1">
                <a:solidFill>
                  <a:srgbClr val="12212B"/>
                </a:solidFill>
                <a:latin typeface="Arial"/>
                <a:ea typeface="Arial"/>
                <a:cs typeface="Arial"/>
              </a:defRPr>
            </a:pPr>
            <a:r>
              <a:rPr sz="1275" b="1">
                <a:solidFill>
                  <a:srgbClr val="12212B"/>
                </a:solidFill>
                <a:latin typeface="Arial"/>
                <a:ea typeface="Arial"/>
                <a:cs typeface="Arial"/>
              </a:rPr>
              <a:t>Project-filtered chunks</a:t>
            </a:r>
          </a:p>
        </p:txBody>
      </p:sp>
      <p:sp>
        <p:nvSpPr>
          <p:cNvPr id="9" name="">
            <a:extLst xmlns:a="http://schemas.openxmlformats.org/drawingml/2006/main">
              <a:ext uri="{FF2B5EF4-FFF2-40B4-BE49-F238E27FC236}">
                <a16:creationId xmlns:a16="http://schemas.microsoft.com/office/drawing/2014/main" id="{A2D34229-6A43-4756-A538-A6B7AE0B0607}"/>
              </a:ext>
            </a:extLst>
          </p:cNvPr>
          <p:cNvSpPr>
            <a:spLocks xmlns:a="http://schemas.openxmlformats.org/drawingml/2006/main" noGrp="1"/>
          </p:cNvSpPr>
          <p:nvPr/>
        </p:nvSpPr>
        <p:spPr>
          <a:xfrm xmlns:a="http://schemas.openxmlformats.org/drawingml/2006/main">
            <a:off x="7467600" y="1771650"/>
            <a:ext cx="1790700" cy="990600"/>
          </a:xfrm>
          <a:prstGeom xmlns:a="http://schemas.openxmlformats.org/drawingml/2006/main" prst="roundRect">
            <a:avLst>
              <a:gd name="adj" fmla="val 17308"/>
            </a:avLst>
          </a:prstGeom>
          <a:solidFill xmlns:a="http://schemas.openxmlformats.org/drawingml/2006/main">
            <a:srgbClr val="12304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QWEN3-1.7B</a:t>
            </a:r>
          </a:p>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Local generation</a:t>
            </a:r>
          </a:p>
        </p:txBody>
      </p:sp>
      <p:sp>
        <p:nvSpPr>
          <p:cNvPr id="10" name="">
            <a:extLst xmlns:a="http://schemas.openxmlformats.org/drawingml/2006/main">
              <a:ext uri="{FF2B5EF4-FFF2-40B4-BE49-F238E27FC236}">
                <a16:creationId xmlns:a16="http://schemas.microsoft.com/office/drawing/2014/main" id="{9070D983-4933-42ED-B210-910F26302274}"/>
              </a:ext>
            </a:extLst>
          </p:cNvPr>
          <p:cNvSpPr>
            <a:spLocks xmlns:a="http://schemas.openxmlformats.org/drawingml/2006/main" noGrp="1"/>
          </p:cNvSpPr>
          <p:nvPr/>
        </p:nvSpPr>
        <p:spPr>
          <a:xfrm xmlns:a="http://schemas.openxmlformats.org/drawingml/2006/main">
            <a:off x="7467600" y="3181350"/>
            <a:ext cx="1790700" cy="990600"/>
          </a:xfrm>
          <a:prstGeom xmlns:a="http://schemas.openxmlformats.org/drawingml/2006/main" prst="roundRect">
            <a:avLst>
              <a:gd name="adj" fmla="val 17308"/>
            </a:avLst>
          </a:prstGeom>
          <a:solidFill xmlns:a="http://schemas.openxmlformats.org/drawingml/2006/main">
            <a:srgbClr val="2C7A78"/>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RANDOM FOREST</a:t>
            </a:r>
          </a:p>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Cost estimate</a:t>
            </a:r>
          </a:p>
        </p:txBody>
      </p:sp>
      <p:sp>
        <p:nvSpPr>
          <p:cNvPr id="11" name="">
            <a:extLst xmlns:a="http://schemas.openxmlformats.org/drawingml/2006/main">
              <a:ext uri="{FF2B5EF4-FFF2-40B4-BE49-F238E27FC236}">
                <a16:creationId xmlns:a16="http://schemas.microsoft.com/office/drawing/2014/main" id="{766EC9D0-9C28-4B3B-AE0C-81C5D3E2AE1E}"/>
              </a:ext>
            </a:extLst>
          </p:cNvPr>
          <p:cNvSpPr>
            <a:spLocks xmlns:a="http://schemas.openxmlformats.org/drawingml/2006/main" noGrp="1"/>
          </p:cNvSpPr>
          <p:nvPr/>
        </p:nvSpPr>
        <p:spPr>
          <a:xfrm xmlns:a="http://schemas.openxmlformats.org/drawingml/2006/main">
            <a:off x="9886950" y="2343150"/>
            <a:ext cx="1695450" cy="1333500"/>
          </a:xfrm>
          <a:prstGeom xmlns:a="http://schemas.openxmlformats.org/drawingml/2006/main" prst="roundRect">
            <a:avLst>
              <a:gd name="adj" fmla="val 12857"/>
            </a:avLst>
          </a:prstGeom>
          <a:solidFill xmlns:a="http://schemas.openxmlformats.org/drawingml/2006/main">
            <a:srgbClr val="FFFFFF"/>
          </a:solidFill>
          <a:ln xmlns:a="http://schemas.openxmlformats.org/drawingml/2006/main" w="9525">
            <a:solidFill>
              <a:srgbClr val="D6D1C7"/>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2212B"/>
                </a:solidFill>
                <a:latin typeface="Arial"/>
                <a:ea typeface="Arial"/>
                <a:cs typeface="Arial"/>
              </a:defRPr>
            </a:pPr>
            <a:r>
              <a:rPr sz="1275" b="1">
                <a:solidFill>
                  <a:srgbClr val="12212B"/>
                </a:solidFill>
                <a:latin typeface="Arial"/>
                <a:ea typeface="Arial"/>
                <a:cs typeface="Arial"/>
              </a:rPr>
              <a:t>MLFLOW</a:t>
            </a:r>
          </a:p>
          <a:p xmlns:a="http://schemas.openxmlformats.org/drawingml/2006/main">
            <a:pPr algn="ctr">
              <a:defRPr sz="1275" b="1">
                <a:solidFill>
                  <a:srgbClr val="12212B"/>
                </a:solidFill>
                <a:latin typeface="Arial"/>
                <a:ea typeface="Arial"/>
                <a:cs typeface="Arial"/>
              </a:defRPr>
            </a:pPr>
            <a:r>
              <a:rPr sz="1275" b="1">
                <a:solidFill>
                  <a:srgbClr val="12212B"/>
                </a:solidFill>
                <a:latin typeface="Arial"/>
                <a:ea typeface="Arial"/>
                <a:cs typeface="Arial"/>
              </a:rPr>
              <a:t>Runs • metrics</a:t>
            </a:r>
          </a:p>
          <a:p xmlns:a="http://schemas.openxmlformats.org/drawingml/2006/main">
            <a:pPr algn="ctr">
              <a:defRPr sz="1275" b="1">
                <a:solidFill>
                  <a:srgbClr val="12212B"/>
                </a:solidFill>
                <a:latin typeface="Arial"/>
                <a:ea typeface="Arial"/>
                <a:cs typeface="Arial"/>
              </a:defRPr>
            </a:pPr>
            <a:r>
              <a:rPr sz="1275" b="1">
                <a:solidFill>
                  <a:srgbClr val="12212B"/>
                </a:solidFill>
                <a:latin typeface="Arial"/>
                <a:ea typeface="Arial"/>
                <a:cs typeface="Arial"/>
              </a:rPr>
              <a:t>model versions</a:t>
            </a:r>
          </a:p>
        </p:txBody>
      </p:sp>
      <p:cxnSp>
        <p:nvCxnSpPr>
          <p:cNvPr id="36" name=""/>
          <p:cNvCxnSpPr>
            <a:stCxn xmlns:a="http://schemas.openxmlformats.org/drawingml/2006/main" id="5" idx="3"/>
            <a:endCxn xmlns:a="http://schemas.openxmlformats.org/drawingml/2006/main" id="6" idx="1"/>
          </p:cNvCxnSpPr>
          <p:nvPr/>
        </p:nvCxnSpPr>
        <p:spPr>
          <a:xfrm xmlns:a="http://schemas.openxmlformats.org/drawingml/2006/main">
            <a:off x="2019300" y="3009900"/>
            <a:ext cx="552450" cy="0"/>
          </a:xfrm>
          <a:prstGeom xmlns:a="http://schemas.openxmlformats.org/drawingml/2006/main" prst="straightConnector1">
            <a:avLst/>
          </a:prstGeom>
          <a:ln xmlns:a="http://schemas.openxmlformats.org/drawingml/2006/main" w="19050">
            <a:solidFill>
              <a:srgbClr val="5D6B72"/>
            </a:solidFill>
            <a:prstDash val="solid"/>
            <a:headEnd type="triangle" w="sm" len="sm"/>
          </a:ln>
        </p:spPr>
      </p:cxnSp>
      <p:cxnSp>
        <p:nvCxnSpPr>
          <p:cNvPr id="37" name=""/>
          <p:cNvCxnSpPr>
            <a:stCxn xmlns:a="http://schemas.openxmlformats.org/drawingml/2006/main" id="6" idx="3"/>
            <a:endCxn xmlns:a="http://schemas.openxmlformats.org/drawingml/2006/main" id="7" idx="1"/>
          </p:cNvCxnSpPr>
          <p:nvPr/>
        </p:nvCxnSpPr>
        <p:spPr>
          <a:xfrm xmlns:a="http://schemas.openxmlformats.org/drawingml/2006/main" flipV="1">
            <a:off x="4381500" y="2266950"/>
            <a:ext cx="609600" cy="742950"/>
          </a:xfrm>
          <a:prstGeom xmlns:a="http://schemas.openxmlformats.org/drawingml/2006/main" prst="bentConnector3">
            <a:avLst>
              <a:gd name="adj1" fmla="val 50000"/>
            </a:avLst>
          </a:prstGeom>
          <a:ln xmlns:a="http://schemas.openxmlformats.org/drawingml/2006/main" w="19050">
            <a:solidFill>
              <a:srgbClr val="5D6B72"/>
            </a:solidFill>
            <a:prstDash val="solid"/>
            <a:headEnd type="triangle" w="sm" len="sm"/>
          </a:ln>
        </p:spPr>
      </p:cxnSp>
      <p:cxnSp>
        <p:nvCxnSpPr>
          <p:cNvPr id="38" name=""/>
          <p:cNvCxnSpPr>
            <a:stCxn xmlns:a="http://schemas.openxmlformats.org/drawingml/2006/main" id="6" idx="3"/>
            <a:endCxn xmlns:a="http://schemas.openxmlformats.org/drawingml/2006/main" id="8" idx="1"/>
          </p:cNvCxnSpPr>
          <p:nvPr/>
        </p:nvCxnSpPr>
        <p:spPr>
          <a:xfrm xmlns:a="http://schemas.openxmlformats.org/drawingml/2006/main">
            <a:off x="4381500" y="3009900"/>
            <a:ext cx="609600" cy="666750"/>
          </a:xfrm>
          <a:prstGeom xmlns:a="http://schemas.openxmlformats.org/drawingml/2006/main" prst="bentConnector3">
            <a:avLst>
              <a:gd name="adj1" fmla="val 50000"/>
            </a:avLst>
          </a:prstGeom>
          <a:ln xmlns:a="http://schemas.openxmlformats.org/drawingml/2006/main" w="19050">
            <a:solidFill>
              <a:srgbClr val="5D6B72"/>
            </a:solidFill>
            <a:prstDash val="solid"/>
            <a:headEnd type="triangle" w="sm" len="sm"/>
          </a:ln>
        </p:spPr>
      </p:cxnSp>
      <p:cxnSp>
        <p:nvCxnSpPr>
          <p:cNvPr id="39" name=""/>
          <p:cNvCxnSpPr>
            <a:stCxn xmlns:a="http://schemas.openxmlformats.org/drawingml/2006/main" id="8" idx="3"/>
            <a:endCxn xmlns:a="http://schemas.openxmlformats.org/drawingml/2006/main" id="9" idx="2"/>
          </p:cNvCxnSpPr>
          <p:nvPr/>
        </p:nvCxnSpPr>
        <p:spPr>
          <a:xfrm xmlns:a="http://schemas.openxmlformats.org/drawingml/2006/main" flipV="1">
            <a:off x="6800850" y="2762250"/>
            <a:ext cx="1562100" cy="914400"/>
          </a:xfrm>
          <a:prstGeom xmlns:a="http://schemas.openxmlformats.org/drawingml/2006/main" prst="bentConnector4">
            <a:avLst>
              <a:gd name="adj1" fmla="val 14634"/>
              <a:gd name="adj2" fmla="val 75000"/>
            </a:avLst>
          </a:prstGeom>
          <a:ln xmlns:a="http://schemas.openxmlformats.org/drawingml/2006/main" w="19050">
            <a:solidFill>
              <a:srgbClr val="E38B35"/>
            </a:solidFill>
            <a:prstDash val="solid"/>
            <a:headEnd type="triangle" w="sm" len="sm"/>
          </a:ln>
        </p:spPr>
      </p:cxnSp>
      <p:cxnSp>
        <p:nvCxnSpPr>
          <p:cNvPr id="40" name=""/>
          <p:cNvCxnSpPr>
            <a:stCxn xmlns:a="http://schemas.openxmlformats.org/drawingml/2006/main" id="6" idx="3"/>
            <a:endCxn xmlns:a="http://schemas.openxmlformats.org/drawingml/2006/main" id="10" idx="1"/>
          </p:cNvCxnSpPr>
          <p:nvPr/>
        </p:nvCxnSpPr>
        <p:spPr>
          <a:xfrm xmlns:a="http://schemas.openxmlformats.org/drawingml/2006/main">
            <a:off x="4381500" y="3009900"/>
            <a:ext cx="3086100" cy="666750"/>
          </a:xfrm>
          <a:prstGeom xmlns:a="http://schemas.openxmlformats.org/drawingml/2006/main" prst="bentConnector3">
            <a:avLst>
              <a:gd name="adj1" fmla="val 92593"/>
            </a:avLst>
          </a:prstGeom>
          <a:ln xmlns:a="http://schemas.openxmlformats.org/drawingml/2006/main" w="19050">
            <a:solidFill>
              <a:srgbClr val="2C7A78"/>
            </a:solidFill>
            <a:prstDash val="solid"/>
            <a:headEnd type="triangle" w="sm" len="sm"/>
          </a:ln>
        </p:spPr>
      </p:cxnSp>
      <p:cxnSp>
        <p:nvCxnSpPr>
          <p:cNvPr id="41" name=""/>
          <p:cNvCxnSpPr>
            <a:stCxn xmlns:a="http://schemas.openxmlformats.org/drawingml/2006/main" id="9" idx="3"/>
            <a:endCxn xmlns:a="http://schemas.openxmlformats.org/drawingml/2006/main" id="11" idx="1"/>
          </p:cNvCxnSpPr>
          <p:nvPr/>
        </p:nvCxnSpPr>
        <p:spPr>
          <a:xfrm xmlns:a="http://schemas.openxmlformats.org/drawingml/2006/main">
            <a:off x="9258300" y="2266950"/>
            <a:ext cx="628650" cy="742950"/>
          </a:xfrm>
          <a:prstGeom xmlns:a="http://schemas.openxmlformats.org/drawingml/2006/main" prst="bentConnector3">
            <a:avLst>
              <a:gd name="adj1" fmla="val 50000"/>
            </a:avLst>
          </a:prstGeom>
          <a:ln xmlns:a="http://schemas.openxmlformats.org/drawingml/2006/main" w="19050">
            <a:solidFill>
              <a:srgbClr val="5D6B72"/>
            </a:solidFill>
            <a:prstDash val="solid"/>
            <a:headEnd type="triangle" w="sm" len="sm"/>
          </a:ln>
        </p:spPr>
      </p:cxnSp>
      <p:cxnSp>
        <p:nvCxnSpPr>
          <p:cNvPr id="42" name=""/>
          <p:cNvCxnSpPr>
            <a:stCxn xmlns:a="http://schemas.openxmlformats.org/drawingml/2006/main" id="10" idx="3"/>
            <a:endCxn xmlns:a="http://schemas.openxmlformats.org/drawingml/2006/main" id="11" idx="1"/>
          </p:cNvCxnSpPr>
          <p:nvPr/>
        </p:nvCxnSpPr>
        <p:spPr>
          <a:xfrm xmlns:a="http://schemas.openxmlformats.org/drawingml/2006/main" flipV="1">
            <a:off x="9258300" y="3009900"/>
            <a:ext cx="628650" cy="666750"/>
          </a:xfrm>
          <a:prstGeom xmlns:a="http://schemas.openxmlformats.org/drawingml/2006/main" prst="bentConnector3">
            <a:avLst>
              <a:gd name="adj1" fmla="val 50000"/>
            </a:avLst>
          </a:prstGeom>
          <a:ln xmlns:a="http://schemas.openxmlformats.org/drawingml/2006/main" w="19050">
            <a:solidFill>
              <a:srgbClr val="5D6B72"/>
            </a:solidFill>
            <a:prstDash val="solid"/>
            <a:headEnd type="triangle" w="sm" len="sm"/>
          </a:ln>
        </p:spPr>
      </p:cxnSp>
      <p:sp>
        <p:nvSpPr>
          <p:cNvPr id="19" name="">
            <a:extLst xmlns:a="http://schemas.openxmlformats.org/drawingml/2006/main">
              <a:ext uri="{FF2B5EF4-FFF2-40B4-BE49-F238E27FC236}">
                <a16:creationId xmlns:a16="http://schemas.microsoft.com/office/drawing/2014/main" id="{255BD0D2-43BB-4B74-831F-A426370CE97F}"/>
              </a:ext>
            </a:extLst>
          </p:cNvPr>
          <p:cNvSpPr>
            <a:spLocks xmlns:a="http://schemas.openxmlformats.org/drawingml/2006/main" noGrp="1"/>
          </p:cNvSpPr>
          <p:nvPr/>
        </p:nvSpPr>
        <p:spPr>
          <a:xfrm xmlns:a="http://schemas.openxmlformats.org/drawingml/2006/main">
            <a:off x="2571750" y="4819650"/>
            <a:ext cx="9010650" cy="781050"/>
          </a:xfrm>
          <a:prstGeom xmlns:a="http://schemas.openxmlformats.org/drawingml/2006/main" prst="roundRect">
            <a:avLst>
              <a:gd name="adj" fmla="val 19512"/>
            </a:avLst>
          </a:prstGeom>
          <a:solidFill xmlns:a="http://schemas.openxmlformats.org/drawingml/2006/main">
            <a:srgbClr val="E7EC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3CB6544-F48A-4E79-B07B-6A0B4372B71F}"/>
              </a:ext>
            </a:extLst>
          </p:cNvPr>
          <p:cNvSpPr>
            <a:spLocks xmlns:a="http://schemas.openxmlformats.org/drawingml/2006/main" noGrp="1"/>
          </p:cNvSpPr>
          <p:nvPr/>
        </p:nvSpPr>
        <p:spPr>
          <a:xfrm xmlns:a="http://schemas.openxmlformats.org/drawingml/2006/main">
            <a:off x="2800350" y="49720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1">
                <a:solidFill>
                  <a:srgbClr val="12304A"/>
                </a:solidFill>
                <a:latin typeface="Arial"/>
                <a:ea typeface="Arial"/>
                <a:cs typeface="Arial"/>
              </a:defRPr>
            </a:pPr>
            <a:r>
              <a:rPr sz="1050" b="1">
                <a:solidFill>
                  <a:srgbClr val="12304A"/>
                </a:solidFill>
                <a:latin typeface="Arial"/>
                <a:ea typeface="Arial"/>
                <a:cs typeface="Arial"/>
              </a:rPr>
              <a:t>MONITORING</a:t>
            </a:r>
          </a:p>
        </p:txBody>
      </p:sp>
      <p:sp>
        <p:nvSpPr>
          <p:cNvPr id="21" name="">
            <a:extLst xmlns:a="http://schemas.openxmlformats.org/drawingml/2006/main">
              <a:ext uri="{FF2B5EF4-FFF2-40B4-BE49-F238E27FC236}">
                <a16:creationId xmlns:a16="http://schemas.microsoft.com/office/drawing/2014/main" id="{A341EDE5-DCCD-4148-9588-779345F2F716}"/>
              </a:ext>
            </a:extLst>
          </p:cNvPr>
          <p:cNvSpPr>
            <a:spLocks xmlns:a="http://schemas.openxmlformats.org/drawingml/2006/main" noGrp="1"/>
          </p:cNvSpPr>
          <p:nvPr/>
        </p:nvSpPr>
        <p:spPr>
          <a:xfrm xmlns:a="http://schemas.openxmlformats.org/drawingml/2006/main">
            <a:off x="4076700" y="4876800"/>
            <a:ext cx="714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12212B"/>
                </a:solidFill>
                <a:latin typeface="Arial"/>
                <a:ea typeface="Arial"/>
                <a:cs typeface="Arial"/>
              </a:defRPr>
            </a:pPr>
            <a:r>
              <a:rPr sz="1275" b="0">
                <a:solidFill>
                  <a:srgbClr val="12212B"/>
                </a:solidFill>
                <a:latin typeface="Arial"/>
                <a:ea typeface="Arial"/>
                <a:cs typeface="Arial"/>
              </a:rPr>
              <a:t>request count  •  errors  •  p95 latency  •  missing evidence  •  citation fallback  •  drift</a:t>
            </a:r>
          </a:p>
        </p:txBody>
      </p:sp>
      <p:sp>
        <p:nvSpPr>
          <p:cNvPr id="22" name="">
            <a:extLst xmlns:a="http://schemas.openxmlformats.org/drawingml/2006/main">
              <a:ext uri="{FF2B5EF4-FFF2-40B4-BE49-F238E27FC236}">
                <a16:creationId xmlns:a16="http://schemas.microsoft.com/office/drawing/2014/main" id="{4745801D-3613-4F9F-992B-394C04165C16}"/>
              </a:ext>
            </a:extLst>
          </p:cNvPr>
          <p:cNvSpPr>
            <a:spLocks xmlns:a="http://schemas.openxmlformats.org/drawingml/2006/main" noGrp="1"/>
          </p:cNvSpPr>
          <p:nvPr/>
        </p:nvSpPr>
        <p:spPr>
          <a:xfrm xmlns:a="http://schemas.openxmlformats.org/drawingml/2006/main">
            <a:off x="2800350" y="5314950"/>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0">
                <a:solidFill>
                  <a:srgbClr val="5D6B72"/>
                </a:solidFill>
                <a:latin typeface="Arial"/>
                <a:ea typeface="Arial"/>
                <a:cs typeface="Arial"/>
              </a:defRPr>
            </a:pPr>
            <a:r>
              <a:rPr sz="975" b="0">
                <a:solidFill>
                  <a:srgbClr val="5D6B72"/>
                </a:solidFill>
                <a:latin typeface="Arial"/>
                <a:ea typeface="Arial"/>
                <a:cs typeface="Arial"/>
              </a:rPr>
              <a:t>Local-first: Ollama serves the language and embedding models on the review machine.</a:t>
            </a:r>
          </a:p>
        </p:txBody>
      </p:sp>
      <p:sp>
        <p:nvSpPr>
          <p:cNvPr id="23" name="">
            <a:extLst xmlns:a="http://schemas.openxmlformats.org/drawingml/2006/main">
              <a:ext uri="{FF2B5EF4-FFF2-40B4-BE49-F238E27FC236}">
                <a16:creationId xmlns:a16="http://schemas.microsoft.com/office/drawing/2014/main" id="{BD4563C4-8F4F-490A-9684-C8FF075C5E10}"/>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24" name="">
            <a:extLst xmlns:a="http://schemas.openxmlformats.org/drawingml/2006/main">
              <a:ext uri="{FF2B5EF4-FFF2-40B4-BE49-F238E27FC236}">
                <a16:creationId xmlns:a16="http://schemas.microsoft.com/office/drawing/2014/main" id="{A8E5B8CF-D574-4809-B33D-7B6A76ACDACD}"/>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03</a:t>
            </a:r>
          </a:p>
        </p:txBody>
      </p:sp>
    </p:spTree>
    <p:extLst>
      <p:ext uri="{BB962C8B-B14F-4D97-AF65-F5344CB8AC3E}">
        <p14:creationId xmlns:p14="http://schemas.microsoft.com/office/powerpoint/2010/main" val="1601040030"/>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C4F6132-5339-4EF4-A910-2C9756FA526D}"/>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03  FOUNDATION MODEL + RAG</a:t>
            </a:r>
          </a:p>
        </p:txBody>
      </p:sp>
      <p:sp>
        <p:nvSpPr>
          <p:cNvPr id="2" name="">
            <a:extLst xmlns:a="http://schemas.openxmlformats.org/drawingml/2006/main">
              <a:ext uri="{FF2B5EF4-FFF2-40B4-BE49-F238E27FC236}">
                <a16:creationId xmlns:a16="http://schemas.microsoft.com/office/drawing/2014/main" id="{3511F018-33D8-445C-BE1F-428E28C70ED9}"/>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RAG grounds every answer in the selected project</a:t>
            </a:r>
          </a:p>
        </p:txBody>
      </p:sp>
      <p:sp>
        <p:nvSpPr>
          <p:cNvPr id="3" name="">
            <a:extLst xmlns:a="http://schemas.openxmlformats.org/drawingml/2006/main">
              <a:ext uri="{FF2B5EF4-FFF2-40B4-BE49-F238E27FC236}">
                <a16:creationId xmlns:a16="http://schemas.microsoft.com/office/drawing/2014/main" id="{252B12E8-C847-40F0-906E-1041419AFDD4}"/>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The foundation model writes the response after retrieval supplies project evidence.</a:t>
            </a:r>
          </a:p>
        </p:txBody>
      </p:sp>
      <p:sp>
        <p:nvSpPr>
          <p:cNvPr id="4" name="">
            <a:extLst xmlns:a="http://schemas.openxmlformats.org/drawingml/2006/main">
              <a:ext uri="{FF2B5EF4-FFF2-40B4-BE49-F238E27FC236}">
                <a16:creationId xmlns:a16="http://schemas.microsoft.com/office/drawing/2014/main" id="{265293CB-D453-423D-90FD-B5023D7E187A}"/>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086A996A-91D7-42BD-9C5B-D00A7E1293CF}"/>
              </a:ext>
            </a:extLst>
          </p:cNvPr>
          <p:cNvSpPr>
            <a:spLocks xmlns:a="http://schemas.openxmlformats.org/drawingml/2006/main" noGrp="1"/>
          </p:cNvSpPr>
          <p:nvPr/>
        </p:nvSpPr>
        <p:spPr>
          <a:xfrm xmlns:a="http://schemas.openxmlformats.org/drawingml/2006/main">
            <a:off x="609600" y="2190750"/>
            <a:ext cx="1809750" cy="1543050"/>
          </a:xfrm>
          <a:prstGeom xmlns:a="http://schemas.openxmlformats.org/drawingml/2006/main" prst="roundRect">
            <a:avLst>
              <a:gd name="adj" fmla="val 12346"/>
            </a:avLst>
          </a:prstGeom>
          <a:solidFill xmlns:a="http://schemas.openxmlformats.org/drawingml/2006/main">
            <a:srgbClr val="FFFFFF"/>
          </a:solidFill>
          <a:ln xmlns:a="http://schemas.openxmlformats.org/drawingml/2006/main" w="9525">
            <a:solidFill>
              <a:srgbClr val="D6D1C7"/>
            </a:solidFill>
            <a:prstDash val="solid"/>
          </a:ln>
        </p:spPr>
      </p:sp>
      <p:sp>
        <p:nvSpPr>
          <p:cNvPr id="6" name="">
            <a:extLst xmlns:a="http://schemas.openxmlformats.org/drawingml/2006/main">
              <a:ext uri="{FF2B5EF4-FFF2-40B4-BE49-F238E27FC236}">
                <a16:creationId xmlns:a16="http://schemas.microsoft.com/office/drawing/2014/main" id="{49A3F4E9-C1C4-4017-99B5-43A4ECC28A78}"/>
              </a:ext>
            </a:extLst>
          </p:cNvPr>
          <p:cNvSpPr>
            <a:spLocks xmlns:a="http://schemas.openxmlformats.org/drawingml/2006/main" noGrp="1"/>
          </p:cNvSpPr>
          <p:nvPr/>
        </p:nvSpPr>
        <p:spPr>
          <a:xfrm xmlns:a="http://schemas.openxmlformats.org/drawingml/2006/main">
            <a:off x="781050" y="23431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2C7A78"/>
                </a:solidFill>
                <a:latin typeface="Arial"/>
                <a:ea typeface="Arial"/>
                <a:cs typeface="Arial"/>
              </a:defRPr>
            </a:pPr>
            <a:r>
              <a:rPr sz="1800" b="1">
                <a:solidFill>
                  <a:srgbClr val="2C7A78"/>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20A798A7-92A5-4890-A83A-8BCBD5040E3E}"/>
              </a:ext>
            </a:extLst>
          </p:cNvPr>
          <p:cNvSpPr>
            <a:spLocks xmlns:a="http://schemas.openxmlformats.org/drawingml/2006/main" noGrp="1"/>
          </p:cNvSpPr>
          <p:nvPr/>
        </p:nvSpPr>
        <p:spPr>
          <a:xfrm xmlns:a="http://schemas.openxmlformats.org/drawingml/2006/main">
            <a:off x="819150" y="2800350"/>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2212B"/>
                </a:solidFill>
                <a:latin typeface="Arial"/>
                <a:ea typeface="Arial"/>
                <a:cs typeface="Arial"/>
              </a:defRPr>
            </a:pPr>
            <a:r>
              <a:rPr sz="1500" b="1">
                <a:solidFill>
                  <a:srgbClr val="12212B"/>
                </a:solidFill>
                <a:latin typeface="Arial"/>
                <a:ea typeface="Arial"/>
                <a:cs typeface="Arial"/>
              </a:rPr>
              <a:t>Upload</a:t>
            </a:r>
          </a:p>
        </p:txBody>
      </p:sp>
      <p:sp>
        <p:nvSpPr>
          <p:cNvPr id="8" name="">
            <a:extLst xmlns:a="http://schemas.openxmlformats.org/drawingml/2006/main">
              <a:ext uri="{FF2B5EF4-FFF2-40B4-BE49-F238E27FC236}">
                <a16:creationId xmlns:a16="http://schemas.microsoft.com/office/drawing/2014/main" id="{F23F64EB-239E-4781-824B-3CD3D4A9CE24}"/>
              </a:ext>
            </a:extLst>
          </p:cNvPr>
          <p:cNvSpPr>
            <a:spLocks xmlns:a="http://schemas.openxmlformats.org/drawingml/2006/main" noGrp="1"/>
          </p:cNvSpPr>
          <p:nvPr/>
        </p:nvSpPr>
        <p:spPr>
          <a:xfrm xmlns:a="http://schemas.openxmlformats.org/drawingml/2006/main">
            <a:off x="762000" y="3181350"/>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5D6B72"/>
                </a:solidFill>
                <a:latin typeface="Arial"/>
                <a:ea typeface="Arial"/>
                <a:cs typeface="Arial"/>
              </a:defRPr>
            </a:pPr>
            <a:r>
              <a:rPr sz="1050" b="0">
                <a:solidFill>
                  <a:srgbClr val="5D6B72"/>
                </a:solidFill>
                <a:latin typeface="Arial"/>
                <a:ea typeface="Arial"/>
                <a:cs typeface="Arial"/>
              </a:rPr>
              <a:t>PDF, TXT or CSV</a:t>
            </a:r>
          </a:p>
        </p:txBody>
      </p:sp>
      <p:sp>
        <p:nvSpPr>
          <p:cNvPr id="9" name="">
            <a:extLst xmlns:a="http://schemas.openxmlformats.org/drawingml/2006/main">
              <a:ext uri="{FF2B5EF4-FFF2-40B4-BE49-F238E27FC236}">
                <a16:creationId xmlns:a16="http://schemas.microsoft.com/office/drawing/2014/main" id="{2EC5B005-4C4C-40D2-A506-2BD3C71D687A}"/>
              </a:ext>
            </a:extLst>
          </p:cNvPr>
          <p:cNvSpPr>
            <a:spLocks xmlns:a="http://schemas.openxmlformats.org/drawingml/2006/main" noGrp="1"/>
          </p:cNvSpPr>
          <p:nvPr/>
        </p:nvSpPr>
        <p:spPr>
          <a:xfrm xmlns:a="http://schemas.openxmlformats.org/drawingml/2006/main">
            <a:off x="2876550" y="2190750"/>
            <a:ext cx="1809750" cy="1543050"/>
          </a:xfrm>
          <a:prstGeom xmlns:a="http://schemas.openxmlformats.org/drawingml/2006/main" prst="roundRect">
            <a:avLst>
              <a:gd name="adj" fmla="val 12346"/>
            </a:avLst>
          </a:prstGeom>
          <a:solidFill xmlns:a="http://schemas.openxmlformats.org/drawingml/2006/main">
            <a:srgbClr val="FFFFFF"/>
          </a:solidFill>
          <a:ln xmlns:a="http://schemas.openxmlformats.org/drawingml/2006/main" w="9525">
            <a:solidFill>
              <a:srgbClr val="D6D1C7"/>
            </a:solidFill>
            <a:prstDash val="solid"/>
          </a:ln>
        </p:spPr>
      </p:sp>
      <p:sp>
        <p:nvSpPr>
          <p:cNvPr id="10" name="">
            <a:extLst xmlns:a="http://schemas.openxmlformats.org/drawingml/2006/main">
              <a:ext uri="{FF2B5EF4-FFF2-40B4-BE49-F238E27FC236}">
                <a16:creationId xmlns:a16="http://schemas.microsoft.com/office/drawing/2014/main" id="{DA730730-940C-4E76-B52B-31A999BF26AF}"/>
              </a:ext>
            </a:extLst>
          </p:cNvPr>
          <p:cNvSpPr>
            <a:spLocks xmlns:a="http://schemas.openxmlformats.org/drawingml/2006/main" noGrp="1"/>
          </p:cNvSpPr>
          <p:nvPr/>
        </p:nvSpPr>
        <p:spPr>
          <a:xfrm xmlns:a="http://schemas.openxmlformats.org/drawingml/2006/main">
            <a:off x="3048000" y="23431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2C7A78"/>
                </a:solidFill>
                <a:latin typeface="Arial"/>
                <a:ea typeface="Arial"/>
                <a:cs typeface="Arial"/>
              </a:defRPr>
            </a:pPr>
            <a:r>
              <a:rPr sz="1800" b="1">
                <a:solidFill>
                  <a:srgbClr val="2C7A78"/>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0723F817-0D6F-41C8-8776-7993203021FC}"/>
              </a:ext>
            </a:extLst>
          </p:cNvPr>
          <p:cNvSpPr>
            <a:spLocks xmlns:a="http://schemas.openxmlformats.org/drawingml/2006/main" noGrp="1"/>
          </p:cNvSpPr>
          <p:nvPr/>
        </p:nvSpPr>
        <p:spPr>
          <a:xfrm xmlns:a="http://schemas.openxmlformats.org/drawingml/2006/main">
            <a:off x="3086100" y="2800350"/>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2212B"/>
                </a:solidFill>
                <a:latin typeface="Arial"/>
                <a:ea typeface="Arial"/>
                <a:cs typeface="Arial"/>
              </a:defRPr>
            </a:pPr>
            <a:r>
              <a:rPr sz="1500" b="1">
                <a:solidFill>
                  <a:srgbClr val="12212B"/>
                </a:solidFill>
                <a:latin typeface="Arial"/>
                <a:ea typeface="Arial"/>
                <a:cs typeface="Arial"/>
              </a:rPr>
              <a:t>Index</a:t>
            </a:r>
          </a:p>
        </p:txBody>
      </p:sp>
      <p:sp>
        <p:nvSpPr>
          <p:cNvPr id="12" name="">
            <a:extLst xmlns:a="http://schemas.openxmlformats.org/drawingml/2006/main">
              <a:ext uri="{FF2B5EF4-FFF2-40B4-BE49-F238E27FC236}">
                <a16:creationId xmlns:a16="http://schemas.microsoft.com/office/drawing/2014/main" id="{64CBF7A3-1F4C-40FC-B148-2FCB971D4D77}"/>
              </a:ext>
            </a:extLst>
          </p:cNvPr>
          <p:cNvSpPr>
            <a:spLocks xmlns:a="http://schemas.openxmlformats.org/drawingml/2006/main" noGrp="1"/>
          </p:cNvSpPr>
          <p:nvPr/>
        </p:nvSpPr>
        <p:spPr>
          <a:xfrm xmlns:a="http://schemas.openxmlformats.org/drawingml/2006/main">
            <a:off x="3028950" y="3181350"/>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5D6B72"/>
                </a:solidFill>
                <a:latin typeface="Arial"/>
                <a:ea typeface="Arial"/>
                <a:cs typeface="Arial"/>
              </a:defRPr>
            </a:pPr>
            <a:r>
              <a:rPr sz="1050" b="0">
                <a:solidFill>
                  <a:srgbClr val="5D6B72"/>
                </a:solidFill>
                <a:latin typeface="Arial"/>
                <a:ea typeface="Arial"/>
                <a:cs typeface="Arial"/>
              </a:rPr>
              <a:t>Extract and chunk</a:t>
            </a:r>
          </a:p>
        </p:txBody>
      </p:sp>
      <p:cxnSp>
        <p:nvCxnSpPr>
          <p:cNvPr id="48" name=""/>
          <p:cNvCxnSpPr>
            <a:stCxn xmlns:a="http://schemas.openxmlformats.org/drawingml/2006/main" id="5" idx="3"/>
            <a:endCxn xmlns:a="http://schemas.openxmlformats.org/drawingml/2006/main" id="9" idx="1"/>
          </p:cNvCxnSpPr>
          <p:nvPr/>
        </p:nvCxnSpPr>
        <p:spPr>
          <a:xfrm xmlns:a="http://schemas.openxmlformats.org/drawingml/2006/main">
            <a:off x="2419350" y="2962275"/>
            <a:ext cx="457200" cy="0"/>
          </a:xfrm>
          <a:prstGeom xmlns:a="http://schemas.openxmlformats.org/drawingml/2006/main" prst="straightConnector1">
            <a:avLst/>
          </a:prstGeom>
          <a:ln xmlns:a="http://schemas.openxmlformats.org/drawingml/2006/main" w="28575">
            <a:solidFill>
              <a:srgbClr val="E38B35"/>
            </a:solidFill>
            <a:prstDash val="solid"/>
            <a:headEnd type="triangle" w="sm" len="sm"/>
          </a:ln>
        </p:spPr>
      </p:cxnSp>
      <p:sp>
        <p:nvSpPr>
          <p:cNvPr id="14" name="">
            <a:extLst xmlns:a="http://schemas.openxmlformats.org/drawingml/2006/main">
              <a:ext uri="{FF2B5EF4-FFF2-40B4-BE49-F238E27FC236}">
                <a16:creationId xmlns:a16="http://schemas.microsoft.com/office/drawing/2014/main" id="{3903FC28-6127-44C0-A68C-9C4B45B696ED}"/>
              </a:ext>
            </a:extLst>
          </p:cNvPr>
          <p:cNvSpPr>
            <a:spLocks xmlns:a="http://schemas.openxmlformats.org/drawingml/2006/main" noGrp="1"/>
          </p:cNvSpPr>
          <p:nvPr/>
        </p:nvSpPr>
        <p:spPr>
          <a:xfrm xmlns:a="http://schemas.openxmlformats.org/drawingml/2006/main">
            <a:off x="5143500" y="2190750"/>
            <a:ext cx="1809750" cy="1543050"/>
          </a:xfrm>
          <a:prstGeom xmlns:a="http://schemas.openxmlformats.org/drawingml/2006/main" prst="roundRect">
            <a:avLst>
              <a:gd name="adj" fmla="val 12346"/>
            </a:avLst>
          </a:prstGeom>
          <a:solidFill xmlns:a="http://schemas.openxmlformats.org/drawingml/2006/main">
            <a:srgbClr val="FFFFFF"/>
          </a:solidFill>
          <a:ln xmlns:a="http://schemas.openxmlformats.org/drawingml/2006/main" w="9525">
            <a:solidFill>
              <a:srgbClr val="D6D1C7"/>
            </a:solidFill>
            <a:prstDash val="solid"/>
          </a:ln>
        </p:spPr>
      </p:sp>
      <p:sp>
        <p:nvSpPr>
          <p:cNvPr id="15" name="">
            <a:extLst xmlns:a="http://schemas.openxmlformats.org/drawingml/2006/main">
              <a:ext uri="{FF2B5EF4-FFF2-40B4-BE49-F238E27FC236}">
                <a16:creationId xmlns:a16="http://schemas.microsoft.com/office/drawing/2014/main" id="{F44525A4-035C-4F51-B101-DB205DE84B27}"/>
              </a:ext>
            </a:extLst>
          </p:cNvPr>
          <p:cNvSpPr>
            <a:spLocks xmlns:a="http://schemas.openxmlformats.org/drawingml/2006/main" noGrp="1"/>
          </p:cNvSpPr>
          <p:nvPr/>
        </p:nvSpPr>
        <p:spPr>
          <a:xfrm xmlns:a="http://schemas.openxmlformats.org/drawingml/2006/main">
            <a:off x="5314950" y="23431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2C7A78"/>
                </a:solidFill>
                <a:latin typeface="Arial"/>
                <a:ea typeface="Arial"/>
                <a:cs typeface="Arial"/>
              </a:defRPr>
            </a:pPr>
            <a:r>
              <a:rPr sz="1800" b="1">
                <a:solidFill>
                  <a:srgbClr val="2C7A78"/>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EFF1FA8B-D065-4C4D-8A9D-62EF4082B1D1}"/>
              </a:ext>
            </a:extLst>
          </p:cNvPr>
          <p:cNvSpPr>
            <a:spLocks xmlns:a="http://schemas.openxmlformats.org/drawingml/2006/main" noGrp="1"/>
          </p:cNvSpPr>
          <p:nvPr/>
        </p:nvSpPr>
        <p:spPr>
          <a:xfrm xmlns:a="http://schemas.openxmlformats.org/drawingml/2006/main">
            <a:off x="5353050" y="2800350"/>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2212B"/>
                </a:solidFill>
                <a:latin typeface="Arial"/>
                <a:ea typeface="Arial"/>
                <a:cs typeface="Arial"/>
              </a:defRPr>
            </a:pPr>
            <a:r>
              <a:rPr sz="1500" b="1">
                <a:solidFill>
                  <a:srgbClr val="12212B"/>
                </a:solidFill>
                <a:latin typeface="Arial"/>
                <a:ea typeface="Arial"/>
                <a:cs typeface="Arial"/>
              </a:rPr>
              <a:t>Retrieve</a:t>
            </a:r>
          </a:p>
        </p:txBody>
      </p:sp>
      <p:sp>
        <p:nvSpPr>
          <p:cNvPr id="17" name="">
            <a:extLst xmlns:a="http://schemas.openxmlformats.org/drawingml/2006/main">
              <a:ext uri="{FF2B5EF4-FFF2-40B4-BE49-F238E27FC236}">
                <a16:creationId xmlns:a16="http://schemas.microsoft.com/office/drawing/2014/main" id="{5952FD33-2F83-45B0-B288-39A26DB47E03}"/>
              </a:ext>
            </a:extLst>
          </p:cNvPr>
          <p:cNvSpPr>
            <a:spLocks xmlns:a="http://schemas.openxmlformats.org/drawingml/2006/main" noGrp="1"/>
          </p:cNvSpPr>
          <p:nvPr/>
        </p:nvSpPr>
        <p:spPr>
          <a:xfrm xmlns:a="http://schemas.openxmlformats.org/drawingml/2006/main">
            <a:off x="5295900" y="3181350"/>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5D6B72"/>
                </a:solidFill>
                <a:latin typeface="Arial"/>
                <a:ea typeface="Arial"/>
                <a:cs typeface="Arial"/>
              </a:defRPr>
            </a:pPr>
            <a:r>
              <a:rPr sz="1050" b="0">
                <a:solidFill>
                  <a:srgbClr val="5D6B72"/>
                </a:solidFill>
                <a:latin typeface="Arial"/>
                <a:ea typeface="Arial"/>
                <a:cs typeface="Arial"/>
              </a:rPr>
              <a:t>Filter by project</a:t>
            </a:r>
          </a:p>
        </p:txBody>
      </p:sp>
      <p:cxnSp>
        <p:nvCxnSpPr>
          <p:cNvPr id="53" name=""/>
          <p:cNvCxnSpPr>
            <a:stCxn xmlns:a="http://schemas.openxmlformats.org/drawingml/2006/main" id="9" idx="3"/>
            <a:endCxn xmlns:a="http://schemas.openxmlformats.org/drawingml/2006/main" id="14" idx="1"/>
          </p:cNvCxnSpPr>
          <p:nvPr/>
        </p:nvCxnSpPr>
        <p:spPr>
          <a:xfrm xmlns:a="http://schemas.openxmlformats.org/drawingml/2006/main">
            <a:off x="4686300" y="2962275"/>
            <a:ext cx="457200" cy="0"/>
          </a:xfrm>
          <a:prstGeom xmlns:a="http://schemas.openxmlformats.org/drawingml/2006/main" prst="straightConnector1">
            <a:avLst/>
          </a:prstGeom>
          <a:ln xmlns:a="http://schemas.openxmlformats.org/drawingml/2006/main" w="28575">
            <a:solidFill>
              <a:srgbClr val="E38B35"/>
            </a:solidFill>
            <a:prstDash val="solid"/>
            <a:headEnd type="triangle" w="sm" len="sm"/>
          </a:ln>
        </p:spPr>
      </p:cxnSp>
      <p:sp>
        <p:nvSpPr>
          <p:cNvPr id="19" name="">
            <a:extLst xmlns:a="http://schemas.openxmlformats.org/drawingml/2006/main">
              <a:ext uri="{FF2B5EF4-FFF2-40B4-BE49-F238E27FC236}">
                <a16:creationId xmlns:a16="http://schemas.microsoft.com/office/drawing/2014/main" id="{D6639EFA-E4CD-4826-9870-71DF2D8422BE}"/>
              </a:ext>
            </a:extLst>
          </p:cNvPr>
          <p:cNvSpPr>
            <a:spLocks xmlns:a="http://schemas.openxmlformats.org/drawingml/2006/main" noGrp="1"/>
          </p:cNvSpPr>
          <p:nvPr/>
        </p:nvSpPr>
        <p:spPr>
          <a:xfrm xmlns:a="http://schemas.openxmlformats.org/drawingml/2006/main">
            <a:off x="7410450" y="2190750"/>
            <a:ext cx="1809750" cy="1543050"/>
          </a:xfrm>
          <a:prstGeom xmlns:a="http://schemas.openxmlformats.org/drawingml/2006/main" prst="roundRect">
            <a:avLst>
              <a:gd name="adj" fmla="val 12346"/>
            </a:avLst>
          </a:prstGeom>
          <a:solidFill xmlns:a="http://schemas.openxmlformats.org/drawingml/2006/main">
            <a:srgbClr val="12304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F223EBE-4B7B-477C-BEF2-E1C63A40958D}"/>
              </a:ext>
            </a:extLst>
          </p:cNvPr>
          <p:cNvSpPr>
            <a:spLocks xmlns:a="http://schemas.openxmlformats.org/drawingml/2006/main" noGrp="1"/>
          </p:cNvSpPr>
          <p:nvPr/>
        </p:nvSpPr>
        <p:spPr>
          <a:xfrm xmlns:a="http://schemas.openxmlformats.org/drawingml/2006/main">
            <a:off x="7581900" y="23431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E38B35"/>
                </a:solidFill>
                <a:latin typeface="Arial"/>
                <a:ea typeface="Arial"/>
                <a:cs typeface="Arial"/>
              </a:defRPr>
            </a:pPr>
            <a:r>
              <a:rPr sz="1800" b="1">
                <a:solidFill>
                  <a:srgbClr val="E38B35"/>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E288AEFA-8089-4DB2-A04E-EC89D5AA28F4}"/>
              </a:ext>
            </a:extLst>
          </p:cNvPr>
          <p:cNvSpPr>
            <a:spLocks xmlns:a="http://schemas.openxmlformats.org/drawingml/2006/main" noGrp="1"/>
          </p:cNvSpPr>
          <p:nvPr/>
        </p:nvSpPr>
        <p:spPr>
          <a:xfrm xmlns:a="http://schemas.openxmlformats.org/drawingml/2006/main">
            <a:off x="7620000" y="2800350"/>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Generate</a:t>
            </a:r>
          </a:p>
        </p:txBody>
      </p:sp>
      <p:sp>
        <p:nvSpPr>
          <p:cNvPr id="22" name="">
            <a:extLst xmlns:a="http://schemas.openxmlformats.org/drawingml/2006/main">
              <a:ext uri="{FF2B5EF4-FFF2-40B4-BE49-F238E27FC236}">
                <a16:creationId xmlns:a16="http://schemas.microsoft.com/office/drawing/2014/main" id="{80012E6B-053E-4685-AE83-C2A70C8AF402}"/>
              </a:ext>
            </a:extLst>
          </p:cNvPr>
          <p:cNvSpPr>
            <a:spLocks xmlns:a="http://schemas.openxmlformats.org/drawingml/2006/main" noGrp="1"/>
          </p:cNvSpPr>
          <p:nvPr/>
        </p:nvSpPr>
        <p:spPr>
          <a:xfrm xmlns:a="http://schemas.openxmlformats.org/drawingml/2006/main">
            <a:off x="7562850" y="3181350"/>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D7E3E8"/>
                </a:solidFill>
                <a:latin typeface="Arial"/>
                <a:ea typeface="Arial"/>
                <a:cs typeface="Arial"/>
              </a:defRPr>
            </a:pPr>
            <a:r>
              <a:rPr sz="1050" b="0">
                <a:solidFill>
                  <a:srgbClr val="D7E3E8"/>
                </a:solidFill>
                <a:latin typeface="Arial"/>
                <a:ea typeface="Arial"/>
                <a:cs typeface="Arial"/>
              </a:rPr>
              <a:t>Qwen3-1.7B</a:t>
            </a:r>
          </a:p>
        </p:txBody>
      </p:sp>
      <p:cxnSp>
        <p:nvCxnSpPr>
          <p:cNvPr id="58" name=""/>
          <p:cNvCxnSpPr>
            <a:stCxn xmlns:a="http://schemas.openxmlformats.org/drawingml/2006/main" id="14" idx="3"/>
            <a:endCxn xmlns:a="http://schemas.openxmlformats.org/drawingml/2006/main" id="19" idx="1"/>
          </p:cNvCxnSpPr>
          <p:nvPr/>
        </p:nvCxnSpPr>
        <p:spPr>
          <a:xfrm xmlns:a="http://schemas.openxmlformats.org/drawingml/2006/main">
            <a:off x="6953250" y="2962275"/>
            <a:ext cx="457200" cy="0"/>
          </a:xfrm>
          <a:prstGeom xmlns:a="http://schemas.openxmlformats.org/drawingml/2006/main" prst="straightConnector1">
            <a:avLst/>
          </a:prstGeom>
          <a:ln xmlns:a="http://schemas.openxmlformats.org/drawingml/2006/main" w="28575">
            <a:solidFill>
              <a:srgbClr val="E38B35"/>
            </a:solidFill>
            <a:prstDash val="solid"/>
            <a:headEnd type="triangle" w="sm" len="sm"/>
          </a:ln>
        </p:spPr>
      </p:cxnSp>
      <p:sp>
        <p:nvSpPr>
          <p:cNvPr id="24" name="">
            <a:extLst xmlns:a="http://schemas.openxmlformats.org/drawingml/2006/main">
              <a:ext uri="{FF2B5EF4-FFF2-40B4-BE49-F238E27FC236}">
                <a16:creationId xmlns:a16="http://schemas.microsoft.com/office/drawing/2014/main" id="{533A5991-BB85-449E-B799-292CC9B542D7}"/>
              </a:ext>
            </a:extLst>
          </p:cNvPr>
          <p:cNvSpPr>
            <a:spLocks xmlns:a="http://schemas.openxmlformats.org/drawingml/2006/main" noGrp="1"/>
          </p:cNvSpPr>
          <p:nvPr/>
        </p:nvSpPr>
        <p:spPr>
          <a:xfrm xmlns:a="http://schemas.openxmlformats.org/drawingml/2006/main">
            <a:off x="9677400" y="2190750"/>
            <a:ext cx="1809750" cy="1543050"/>
          </a:xfrm>
          <a:prstGeom xmlns:a="http://schemas.openxmlformats.org/drawingml/2006/main" prst="roundRect">
            <a:avLst>
              <a:gd name="adj" fmla="val 12346"/>
            </a:avLst>
          </a:prstGeom>
          <a:solidFill xmlns:a="http://schemas.openxmlformats.org/drawingml/2006/main">
            <a:srgbClr val="FFFFFF"/>
          </a:solidFill>
          <a:ln xmlns:a="http://schemas.openxmlformats.org/drawingml/2006/main" w="9525">
            <a:solidFill>
              <a:srgbClr val="D6D1C7"/>
            </a:solidFill>
            <a:prstDash val="solid"/>
          </a:ln>
        </p:spPr>
      </p:sp>
      <p:sp>
        <p:nvSpPr>
          <p:cNvPr id="25" name="">
            <a:extLst xmlns:a="http://schemas.openxmlformats.org/drawingml/2006/main">
              <a:ext uri="{FF2B5EF4-FFF2-40B4-BE49-F238E27FC236}">
                <a16:creationId xmlns:a16="http://schemas.microsoft.com/office/drawing/2014/main" id="{928D1852-4D00-494E-9E10-3D82E80ACA86}"/>
              </a:ext>
            </a:extLst>
          </p:cNvPr>
          <p:cNvSpPr>
            <a:spLocks xmlns:a="http://schemas.openxmlformats.org/drawingml/2006/main" noGrp="1"/>
          </p:cNvSpPr>
          <p:nvPr/>
        </p:nvSpPr>
        <p:spPr>
          <a:xfrm xmlns:a="http://schemas.openxmlformats.org/drawingml/2006/main">
            <a:off x="9848850" y="2343150"/>
            <a:ext cx="38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2C7A78"/>
                </a:solidFill>
                <a:latin typeface="Arial"/>
                <a:ea typeface="Arial"/>
                <a:cs typeface="Arial"/>
              </a:defRPr>
            </a:pPr>
            <a:r>
              <a:rPr sz="1800" b="1">
                <a:solidFill>
                  <a:srgbClr val="2C7A78"/>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978D697E-F7EB-4C0F-BE76-8D4DC6A6AD2C}"/>
              </a:ext>
            </a:extLst>
          </p:cNvPr>
          <p:cNvSpPr>
            <a:spLocks xmlns:a="http://schemas.openxmlformats.org/drawingml/2006/main" noGrp="1"/>
          </p:cNvSpPr>
          <p:nvPr/>
        </p:nvSpPr>
        <p:spPr>
          <a:xfrm xmlns:a="http://schemas.openxmlformats.org/drawingml/2006/main">
            <a:off x="9886950" y="2800350"/>
            <a:ext cx="140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2212B"/>
                </a:solidFill>
                <a:latin typeface="Arial"/>
                <a:ea typeface="Arial"/>
                <a:cs typeface="Arial"/>
              </a:defRPr>
            </a:pPr>
            <a:r>
              <a:rPr sz="1500" b="1">
                <a:solidFill>
                  <a:srgbClr val="12212B"/>
                </a:solidFill>
                <a:latin typeface="Arial"/>
                <a:ea typeface="Arial"/>
                <a:cs typeface="Arial"/>
              </a:rPr>
              <a:t>Verify</a:t>
            </a:r>
          </a:p>
        </p:txBody>
      </p:sp>
      <p:sp>
        <p:nvSpPr>
          <p:cNvPr id="27" name="">
            <a:extLst xmlns:a="http://schemas.openxmlformats.org/drawingml/2006/main">
              <a:ext uri="{FF2B5EF4-FFF2-40B4-BE49-F238E27FC236}">
                <a16:creationId xmlns:a16="http://schemas.microsoft.com/office/drawing/2014/main" id="{09C6EBE8-499B-4EAF-9A5A-6135D53B180D}"/>
              </a:ext>
            </a:extLst>
          </p:cNvPr>
          <p:cNvSpPr>
            <a:spLocks xmlns:a="http://schemas.openxmlformats.org/drawingml/2006/main" noGrp="1"/>
          </p:cNvSpPr>
          <p:nvPr/>
        </p:nvSpPr>
        <p:spPr>
          <a:xfrm xmlns:a="http://schemas.openxmlformats.org/drawingml/2006/main">
            <a:off x="9829800" y="3181350"/>
            <a:ext cx="150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0">
                <a:solidFill>
                  <a:srgbClr val="5D6B72"/>
                </a:solidFill>
                <a:latin typeface="Arial"/>
                <a:ea typeface="Arial"/>
                <a:cs typeface="Arial"/>
              </a:defRPr>
            </a:pPr>
            <a:r>
              <a:rPr sz="1050" b="0">
                <a:solidFill>
                  <a:srgbClr val="5D6B72"/>
                </a:solidFill>
                <a:latin typeface="Arial"/>
                <a:ea typeface="Arial"/>
                <a:cs typeface="Arial"/>
              </a:rPr>
              <a:t>Citations or fallback</a:t>
            </a:r>
          </a:p>
        </p:txBody>
      </p:sp>
      <p:cxnSp>
        <p:nvCxnSpPr>
          <p:cNvPr id="63" name=""/>
          <p:cNvCxnSpPr>
            <a:stCxn xmlns:a="http://schemas.openxmlformats.org/drawingml/2006/main" id="19" idx="3"/>
            <a:endCxn xmlns:a="http://schemas.openxmlformats.org/drawingml/2006/main" id="24" idx="1"/>
          </p:cNvCxnSpPr>
          <p:nvPr/>
        </p:nvCxnSpPr>
        <p:spPr>
          <a:xfrm xmlns:a="http://schemas.openxmlformats.org/drawingml/2006/main">
            <a:off x="9220200" y="2962275"/>
            <a:ext cx="457200" cy="0"/>
          </a:xfrm>
          <a:prstGeom xmlns:a="http://schemas.openxmlformats.org/drawingml/2006/main" prst="straightConnector1">
            <a:avLst/>
          </a:prstGeom>
          <a:ln xmlns:a="http://schemas.openxmlformats.org/drawingml/2006/main" w="28575">
            <a:solidFill>
              <a:srgbClr val="E38B35"/>
            </a:solidFill>
            <a:prstDash val="solid"/>
            <a:headEnd type="triangle" w="sm" len="sm"/>
          </a:ln>
        </p:spPr>
      </p:cxnSp>
      <p:sp>
        <p:nvSpPr>
          <p:cNvPr id="29" name="">
            <a:extLst xmlns:a="http://schemas.openxmlformats.org/drawingml/2006/main">
              <a:ext uri="{FF2B5EF4-FFF2-40B4-BE49-F238E27FC236}">
                <a16:creationId xmlns:a16="http://schemas.microsoft.com/office/drawing/2014/main" id="{B203C1EF-2580-4663-B60F-4D774A34B8ED}"/>
              </a:ext>
            </a:extLst>
          </p:cNvPr>
          <p:cNvSpPr>
            <a:spLocks xmlns:a="http://schemas.openxmlformats.org/drawingml/2006/main" noGrp="1"/>
          </p:cNvSpPr>
          <p:nvPr/>
        </p:nvSpPr>
        <p:spPr>
          <a:xfrm xmlns:a="http://schemas.openxmlformats.org/drawingml/2006/main">
            <a:off x="609600" y="4324350"/>
            <a:ext cx="10972800" cy="1181100"/>
          </a:xfrm>
          <a:prstGeom xmlns:a="http://schemas.openxmlformats.org/drawingml/2006/main" prst="roundRect">
            <a:avLst>
              <a:gd name="adj" fmla="val 14516"/>
            </a:avLst>
          </a:prstGeom>
          <a:solidFill xmlns:a="http://schemas.openxmlformats.org/drawingml/2006/main">
            <a:srgbClr val="DCEBE7"/>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54AC7F2-98FC-404B-A602-48E3D7B5F003}"/>
              </a:ext>
            </a:extLst>
          </p:cNvPr>
          <p:cNvSpPr>
            <a:spLocks xmlns:a="http://schemas.openxmlformats.org/drawingml/2006/main" noGrp="1"/>
          </p:cNvSpPr>
          <p:nvPr/>
        </p:nvSpPr>
        <p:spPr>
          <a:xfrm xmlns:a="http://schemas.openxmlformats.org/drawingml/2006/main">
            <a:off x="857250" y="44767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C7A78"/>
                </a:solidFill>
                <a:latin typeface="Arial"/>
                <a:ea typeface="Arial"/>
                <a:cs typeface="Arial"/>
              </a:defRPr>
            </a:pPr>
            <a:r>
              <a:rPr sz="1425" b="1">
                <a:solidFill>
                  <a:srgbClr val="2C7A78"/>
                </a:solidFill>
                <a:latin typeface="Arial"/>
                <a:ea typeface="Arial"/>
                <a:cs typeface="Arial"/>
              </a:rPr>
              <a:t>Why this matters</a:t>
            </a:r>
          </a:p>
        </p:txBody>
      </p:sp>
      <p:sp>
        <p:nvSpPr>
          <p:cNvPr id="31" name="">
            <a:extLst xmlns:a="http://schemas.openxmlformats.org/drawingml/2006/main">
              <a:ext uri="{FF2B5EF4-FFF2-40B4-BE49-F238E27FC236}">
                <a16:creationId xmlns:a16="http://schemas.microsoft.com/office/drawing/2014/main" id="{47D4C663-6F3E-4BCD-AABF-DD5BF6AC30EE}"/>
              </a:ext>
            </a:extLst>
          </p:cNvPr>
          <p:cNvSpPr>
            <a:spLocks xmlns:a="http://schemas.openxmlformats.org/drawingml/2006/main" noGrp="1"/>
          </p:cNvSpPr>
          <p:nvPr/>
        </p:nvSpPr>
        <p:spPr>
          <a:xfrm xmlns:a="http://schemas.openxmlformats.org/drawingml/2006/main">
            <a:off x="857250" y="48196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2212B"/>
                </a:solidFill>
                <a:latin typeface="Arial"/>
                <a:ea typeface="Arial"/>
                <a:cs typeface="Arial"/>
              </a:defRPr>
            </a:pPr>
            <a:r>
              <a:rPr sz="1500" b="1">
                <a:solidFill>
                  <a:srgbClr val="12212B"/>
                </a:solidFill>
                <a:latin typeface="Arial"/>
                <a:ea typeface="Arial"/>
                <a:cs typeface="Arial"/>
              </a:rPr>
              <a:t>Project isolation passed all retrieval checks. If the model omits valid source IDs, the system returns the evidence excerpts instead of inventing citations.</a:t>
            </a:r>
          </a:p>
        </p:txBody>
      </p:sp>
      <p:sp>
        <p:nvSpPr>
          <p:cNvPr id="32" name="">
            <a:extLst xmlns:a="http://schemas.openxmlformats.org/drawingml/2006/main">
              <a:ext uri="{FF2B5EF4-FFF2-40B4-BE49-F238E27FC236}">
                <a16:creationId xmlns:a16="http://schemas.microsoft.com/office/drawing/2014/main" id="{F666266A-BA5C-4754-90DD-1692BF6C188D}"/>
              </a:ext>
            </a:extLst>
          </p:cNvPr>
          <p:cNvSpPr>
            <a:spLocks xmlns:a="http://schemas.openxmlformats.org/drawingml/2006/main" noGrp="1"/>
          </p:cNvSpPr>
          <p:nvPr/>
        </p:nvSpPr>
        <p:spPr>
          <a:xfrm xmlns:a="http://schemas.openxmlformats.org/drawingml/2006/main">
            <a:off x="8115300" y="5676900"/>
            <a:ext cx="2952750" cy="285750"/>
          </a:xfrm>
          <a:prstGeom xmlns:a="http://schemas.openxmlformats.org/drawingml/2006/main" prst="roundRect">
            <a:avLst>
              <a:gd name="adj" fmla="val 50000"/>
            </a:avLst>
          </a:prstGeom>
          <a:solidFill xmlns:a="http://schemas.openxmlformats.org/drawingml/2006/main">
            <a:srgbClr val="F7E5D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05B200F-5D70-4DD0-829B-279CDBC660D1}"/>
              </a:ext>
            </a:extLst>
          </p:cNvPr>
          <p:cNvSpPr>
            <a:spLocks xmlns:a="http://schemas.openxmlformats.org/drawingml/2006/main" noGrp="1"/>
          </p:cNvSpPr>
          <p:nvPr/>
        </p:nvSpPr>
        <p:spPr>
          <a:xfrm xmlns:a="http://schemas.openxmlformats.org/drawingml/2006/main">
            <a:off x="8210550" y="5695950"/>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2212B"/>
                </a:solidFill>
                <a:latin typeface="Arial"/>
                <a:ea typeface="Arial"/>
                <a:cs typeface="Arial"/>
              </a:defRPr>
            </a:pPr>
            <a:r>
              <a:rPr sz="900" b="1">
                <a:solidFill>
                  <a:srgbClr val="12212B"/>
                </a:solidFill>
                <a:latin typeface="Arial"/>
                <a:ea typeface="Arial"/>
                <a:cs typeface="Arial"/>
              </a:rPr>
              <a:t>RAG changes context, not model weights</a:t>
            </a:r>
          </a:p>
        </p:txBody>
      </p:sp>
      <p:sp>
        <p:nvSpPr>
          <p:cNvPr id="34" name="">
            <a:extLst xmlns:a="http://schemas.openxmlformats.org/drawingml/2006/main">
              <a:ext uri="{FF2B5EF4-FFF2-40B4-BE49-F238E27FC236}">
                <a16:creationId xmlns:a16="http://schemas.microsoft.com/office/drawing/2014/main" id="{B45245C7-219B-484F-9423-E0EC675DCB4A}"/>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35" name="">
            <a:extLst xmlns:a="http://schemas.openxmlformats.org/drawingml/2006/main">
              <a:ext uri="{FF2B5EF4-FFF2-40B4-BE49-F238E27FC236}">
                <a16:creationId xmlns:a16="http://schemas.microsoft.com/office/drawing/2014/main" id="{45461288-D30D-411F-901D-DCEBDFAEAFAC}"/>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04</a:t>
            </a:r>
          </a:p>
        </p:txBody>
      </p:sp>
    </p:spTree>
    <p:extLst>
      <p:ext uri="{BB962C8B-B14F-4D97-AF65-F5344CB8AC3E}">
        <p14:creationId xmlns:p14="http://schemas.microsoft.com/office/powerpoint/2010/main" val="127950194"/>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8D1445D-02CD-4F71-9DFF-EC60739690EC}"/>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04  SUPERVISED LEARNING</a:t>
            </a:r>
          </a:p>
        </p:txBody>
      </p:sp>
      <p:sp>
        <p:nvSpPr>
          <p:cNvPr id="2" name="">
            <a:extLst xmlns:a="http://schemas.openxmlformats.org/drawingml/2006/main">
              <a:ext uri="{FF2B5EF4-FFF2-40B4-BE49-F238E27FC236}">
                <a16:creationId xmlns:a16="http://schemas.microsoft.com/office/drawing/2014/main" id="{1B3009CB-4AAE-4211-9266-3DBCE66AF5E5}"/>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Two model tracks support prediction and domain adaptation</a:t>
            </a:r>
          </a:p>
        </p:txBody>
      </p:sp>
      <p:sp>
        <p:nvSpPr>
          <p:cNvPr id="3" name="">
            <a:extLst xmlns:a="http://schemas.openxmlformats.org/drawingml/2006/main">
              <a:ext uri="{FF2B5EF4-FFF2-40B4-BE49-F238E27FC236}">
                <a16:creationId xmlns:a16="http://schemas.microsoft.com/office/drawing/2014/main" id="{7750DC06-2943-420D-88DA-A61A3DCAED86}"/>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Both tracks use synthetic data because a reliable construction dataset was unavailable for the prototype.</a:t>
            </a:r>
          </a:p>
        </p:txBody>
      </p:sp>
      <p:sp>
        <p:nvSpPr>
          <p:cNvPr id="4" name="">
            <a:extLst xmlns:a="http://schemas.openxmlformats.org/drawingml/2006/main">
              <a:ext uri="{FF2B5EF4-FFF2-40B4-BE49-F238E27FC236}">
                <a16:creationId xmlns:a16="http://schemas.microsoft.com/office/drawing/2014/main" id="{9536535E-3397-4069-BBB7-03D0650ED843}"/>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A040AE6C-A4EB-40EA-B8A1-0F0CBBAC279D}"/>
              </a:ext>
            </a:extLst>
          </p:cNvPr>
          <p:cNvSpPr>
            <a:spLocks xmlns:a="http://schemas.openxmlformats.org/drawingml/2006/main" noGrp="1"/>
          </p:cNvSpPr>
          <p:nvPr/>
        </p:nvSpPr>
        <p:spPr>
          <a:xfrm xmlns:a="http://schemas.openxmlformats.org/drawingml/2006/main">
            <a:off x="6096000" y="1809750"/>
            <a:ext cx="0" cy="390525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6" name="">
            <a:extLst xmlns:a="http://schemas.openxmlformats.org/drawingml/2006/main">
              <a:ext uri="{FF2B5EF4-FFF2-40B4-BE49-F238E27FC236}">
                <a16:creationId xmlns:a16="http://schemas.microsoft.com/office/drawing/2014/main" id="{CBB7A05D-BCDB-449B-8621-26468E29647F}"/>
              </a:ext>
            </a:extLst>
          </p:cNvPr>
          <p:cNvSpPr>
            <a:spLocks xmlns:a="http://schemas.openxmlformats.org/drawingml/2006/main" noGrp="1"/>
          </p:cNvSpPr>
          <p:nvPr/>
        </p:nvSpPr>
        <p:spPr>
          <a:xfrm xmlns:a="http://schemas.openxmlformats.org/drawingml/2006/main">
            <a:off x="704850" y="1790700"/>
            <a:ext cx="1809750" cy="285750"/>
          </a:xfrm>
          <a:prstGeom xmlns:a="http://schemas.openxmlformats.org/drawingml/2006/main" prst="roundRect">
            <a:avLst>
              <a:gd name="adj" fmla="val 50000"/>
            </a:avLst>
          </a:prstGeom>
          <a:solidFill xmlns:a="http://schemas.openxmlformats.org/drawingml/2006/main">
            <a:srgbClr val="DCEBE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4BB6FF3-91C9-4EBA-AF71-1F52A7F89C8D}"/>
              </a:ext>
            </a:extLst>
          </p:cNvPr>
          <p:cNvSpPr>
            <a:spLocks xmlns:a="http://schemas.openxmlformats.org/drawingml/2006/main" noGrp="1"/>
          </p:cNvSpPr>
          <p:nvPr/>
        </p:nvSpPr>
        <p:spPr>
          <a:xfrm xmlns:a="http://schemas.openxmlformats.org/drawingml/2006/main">
            <a:off x="800100" y="180975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2C7A78"/>
                </a:solidFill>
                <a:latin typeface="Arial"/>
                <a:ea typeface="Arial"/>
                <a:cs typeface="Arial"/>
              </a:defRPr>
            </a:pPr>
            <a:r>
              <a:rPr sz="900" b="1">
                <a:solidFill>
                  <a:srgbClr val="2C7A78"/>
                </a:solidFill>
                <a:latin typeface="Arial"/>
                <a:ea typeface="Arial"/>
                <a:cs typeface="Arial"/>
              </a:rPr>
              <a:t>PRODUCTION PROTOTYPE</a:t>
            </a:r>
          </a:p>
        </p:txBody>
      </p:sp>
      <p:sp>
        <p:nvSpPr>
          <p:cNvPr id="8" name="">
            <a:extLst xmlns:a="http://schemas.openxmlformats.org/drawingml/2006/main">
              <a:ext uri="{FF2B5EF4-FFF2-40B4-BE49-F238E27FC236}">
                <a16:creationId xmlns:a16="http://schemas.microsoft.com/office/drawing/2014/main" id="{42822920-409E-414C-8FC8-38D4CAFADA1B}"/>
              </a:ext>
            </a:extLst>
          </p:cNvPr>
          <p:cNvSpPr>
            <a:spLocks xmlns:a="http://schemas.openxmlformats.org/drawingml/2006/main" noGrp="1"/>
          </p:cNvSpPr>
          <p:nvPr/>
        </p:nvSpPr>
        <p:spPr>
          <a:xfrm xmlns:a="http://schemas.openxmlformats.org/drawingml/2006/main">
            <a:off x="704850" y="22098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2212B"/>
                </a:solidFill>
                <a:latin typeface="Arial"/>
                <a:ea typeface="Arial"/>
                <a:cs typeface="Arial"/>
              </a:defRPr>
            </a:pPr>
            <a:r>
              <a:rPr sz="2175" b="1">
                <a:solidFill>
                  <a:srgbClr val="12212B"/>
                </a:solidFill>
                <a:latin typeface="Arial"/>
                <a:ea typeface="Arial"/>
                <a:cs typeface="Arial"/>
              </a:rPr>
              <a:t>Random Forest cost model</a:t>
            </a:r>
          </a:p>
        </p:txBody>
      </p:sp>
      <p:sp>
        <p:nvSpPr>
          <p:cNvPr id="9" name="">
            <a:extLst xmlns:a="http://schemas.openxmlformats.org/drawingml/2006/main">
              <a:ext uri="{FF2B5EF4-FFF2-40B4-BE49-F238E27FC236}">
                <a16:creationId xmlns:a16="http://schemas.microsoft.com/office/drawing/2014/main" id="{EC0F942A-4490-45A0-BE4A-B80B8972F8FB}"/>
              </a:ext>
            </a:extLst>
          </p:cNvPr>
          <p:cNvSpPr>
            <a:spLocks xmlns:a="http://schemas.openxmlformats.org/drawingml/2006/main" noGrp="1"/>
          </p:cNvSpPr>
          <p:nvPr/>
        </p:nvSpPr>
        <p:spPr>
          <a:xfrm xmlns:a="http://schemas.openxmlformats.org/drawingml/2006/main">
            <a:off x="704850" y="2857500"/>
            <a:ext cx="4762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2,500 synthetic projects</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2,000 training • 500 evaluation</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120 decision trees</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Five engineered project inputs</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Versioned artifact loaded by the API</a:t>
            </a:r>
          </a:p>
        </p:txBody>
      </p:sp>
      <p:sp>
        <p:nvSpPr>
          <p:cNvPr id="10" name="">
            <a:extLst xmlns:a="http://schemas.openxmlformats.org/drawingml/2006/main">
              <a:ext uri="{FF2B5EF4-FFF2-40B4-BE49-F238E27FC236}">
                <a16:creationId xmlns:a16="http://schemas.microsoft.com/office/drawing/2014/main" id="{A0E5D001-9A94-45E8-A9FC-A95AEC63AA76}"/>
              </a:ext>
            </a:extLst>
          </p:cNvPr>
          <p:cNvSpPr>
            <a:spLocks xmlns:a="http://schemas.openxmlformats.org/drawingml/2006/main" noGrp="1"/>
          </p:cNvSpPr>
          <p:nvPr/>
        </p:nvSpPr>
        <p:spPr>
          <a:xfrm xmlns:a="http://schemas.openxmlformats.org/drawingml/2006/main">
            <a:off x="704850" y="5048250"/>
            <a:ext cx="4667250" cy="742950"/>
          </a:xfrm>
          <a:prstGeom xmlns:a="http://schemas.openxmlformats.org/drawingml/2006/main" prst="roundRect">
            <a:avLst>
              <a:gd name="adj" fmla="val 23077"/>
            </a:avLst>
          </a:prstGeom>
          <a:solidFill xmlns:a="http://schemas.openxmlformats.org/drawingml/2006/main">
            <a:srgbClr val="2C7A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E0F2667-86B6-4885-A008-AADF13DB605C}"/>
              </a:ext>
            </a:extLst>
          </p:cNvPr>
          <p:cNvSpPr>
            <a:spLocks xmlns:a="http://schemas.openxmlformats.org/drawingml/2006/main" noGrp="1"/>
          </p:cNvSpPr>
          <p:nvPr/>
        </p:nvSpPr>
        <p:spPr>
          <a:xfrm xmlns:a="http://schemas.openxmlformats.org/drawingml/2006/main">
            <a:off x="933450" y="5200650"/>
            <a:ext cx="423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Current version  5a25bb4c58f9</a:t>
            </a:r>
          </a:p>
        </p:txBody>
      </p:sp>
      <p:sp>
        <p:nvSpPr>
          <p:cNvPr id="12" name="">
            <a:extLst xmlns:a="http://schemas.openxmlformats.org/drawingml/2006/main">
              <a:ext uri="{FF2B5EF4-FFF2-40B4-BE49-F238E27FC236}">
                <a16:creationId xmlns:a16="http://schemas.microsoft.com/office/drawing/2014/main" id="{49F3DED5-765D-40C4-B952-EA2F5912F8A2}"/>
              </a:ext>
            </a:extLst>
          </p:cNvPr>
          <p:cNvSpPr>
            <a:spLocks xmlns:a="http://schemas.openxmlformats.org/drawingml/2006/main" noGrp="1"/>
          </p:cNvSpPr>
          <p:nvPr/>
        </p:nvSpPr>
        <p:spPr>
          <a:xfrm xmlns:a="http://schemas.openxmlformats.org/drawingml/2006/main">
            <a:off x="933450" y="5486400"/>
            <a:ext cx="423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DDF4EC"/>
                </a:solidFill>
                <a:latin typeface="Arial"/>
                <a:ea typeface="Arial"/>
                <a:cs typeface="Arial"/>
              </a:defRPr>
            </a:pPr>
            <a:r>
              <a:rPr sz="900" b="0">
                <a:solidFill>
                  <a:srgbClr val="DDF4EC"/>
                </a:solidFill>
                <a:latin typeface="Arial"/>
                <a:ea typeface="Arial"/>
                <a:cs typeface="Arial"/>
              </a:rPr>
              <a:t>Tracked and serving</a:t>
            </a:r>
          </a:p>
        </p:txBody>
      </p:sp>
      <p:sp>
        <p:nvSpPr>
          <p:cNvPr id="13" name="">
            <a:extLst xmlns:a="http://schemas.openxmlformats.org/drawingml/2006/main">
              <a:ext uri="{FF2B5EF4-FFF2-40B4-BE49-F238E27FC236}">
                <a16:creationId xmlns:a16="http://schemas.microsoft.com/office/drawing/2014/main" id="{75CFFBF5-1BA9-4F23-B06E-4FECD431DF68}"/>
              </a:ext>
            </a:extLst>
          </p:cNvPr>
          <p:cNvSpPr>
            <a:spLocks xmlns:a="http://schemas.openxmlformats.org/drawingml/2006/main" noGrp="1"/>
          </p:cNvSpPr>
          <p:nvPr/>
        </p:nvSpPr>
        <p:spPr>
          <a:xfrm xmlns:a="http://schemas.openxmlformats.org/drawingml/2006/main">
            <a:off x="6610350" y="1790700"/>
            <a:ext cx="1314450" cy="285750"/>
          </a:xfrm>
          <a:prstGeom xmlns:a="http://schemas.openxmlformats.org/drawingml/2006/main" prst="roundRect">
            <a:avLst>
              <a:gd name="adj" fmla="val 50000"/>
            </a:avLst>
          </a:prstGeom>
          <a:solidFill xmlns:a="http://schemas.openxmlformats.org/drawingml/2006/main">
            <a:srgbClr val="F7E5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1B16BC8-6B9B-41A6-AFE7-DBD83D508253}"/>
              </a:ext>
            </a:extLst>
          </p:cNvPr>
          <p:cNvSpPr>
            <a:spLocks xmlns:a="http://schemas.openxmlformats.org/drawingml/2006/main" noGrp="1"/>
          </p:cNvSpPr>
          <p:nvPr/>
        </p:nvSpPr>
        <p:spPr>
          <a:xfrm xmlns:a="http://schemas.openxmlformats.org/drawingml/2006/main">
            <a:off x="6705600" y="1809750"/>
            <a:ext cx="112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E38B35"/>
                </a:solidFill>
                <a:latin typeface="Arial"/>
                <a:ea typeface="Arial"/>
                <a:cs typeface="Arial"/>
              </a:defRPr>
            </a:pPr>
            <a:r>
              <a:rPr sz="900" b="1">
                <a:solidFill>
                  <a:srgbClr val="E38B35"/>
                </a:solidFill>
                <a:latin typeface="Arial"/>
                <a:ea typeface="Arial"/>
                <a:cs typeface="Arial"/>
              </a:rPr>
              <a:t>EXPERIMENTAL</a:t>
            </a:r>
          </a:p>
        </p:txBody>
      </p:sp>
      <p:sp>
        <p:nvSpPr>
          <p:cNvPr id="15" name="">
            <a:extLst xmlns:a="http://schemas.openxmlformats.org/drawingml/2006/main">
              <a:ext uri="{FF2B5EF4-FFF2-40B4-BE49-F238E27FC236}">
                <a16:creationId xmlns:a16="http://schemas.microsoft.com/office/drawing/2014/main" id="{698BFC84-1B05-4F36-82FD-A638B176A4C2}"/>
              </a:ext>
            </a:extLst>
          </p:cNvPr>
          <p:cNvSpPr>
            <a:spLocks xmlns:a="http://schemas.openxmlformats.org/drawingml/2006/main" noGrp="1"/>
          </p:cNvSpPr>
          <p:nvPr/>
        </p:nvSpPr>
        <p:spPr>
          <a:xfrm xmlns:a="http://schemas.openxmlformats.org/drawingml/2006/main">
            <a:off x="6610350" y="22098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2212B"/>
                </a:solidFill>
                <a:latin typeface="Arial"/>
                <a:ea typeface="Arial"/>
                <a:cs typeface="Arial"/>
              </a:defRPr>
            </a:pPr>
            <a:r>
              <a:rPr sz="2175" b="1">
                <a:solidFill>
                  <a:srgbClr val="12212B"/>
                </a:solidFill>
                <a:latin typeface="Arial"/>
                <a:ea typeface="Arial"/>
                <a:cs typeface="Arial"/>
              </a:rPr>
              <a:t>Qwen LoRA fine-tuning</a:t>
            </a:r>
          </a:p>
        </p:txBody>
      </p:sp>
      <p:sp>
        <p:nvSpPr>
          <p:cNvPr id="16" name="">
            <a:extLst xmlns:a="http://schemas.openxmlformats.org/drawingml/2006/main">
              <a:ext uri="{FF2B5EF4-FFF2-40B4-BE49-F238E27FC236}">
                <a16:creationId xmlns:a16="http://schemas.microsoft.com/office/drawing/2014/main" id="{F656D669-B4D5-47FA-A601-92F6BDD76C8E}"/>
              </a:ext>
            </a:extLst>
          </p:cNvPr>
          <p:cNvSpPr>
            <a:spLocks xmlns:a="http://schemas.openxmlformats.org/drawingml/2006/main" noGrp="1"/>
          </p:cNvSpPr>
          <p:nvPr/>
        </p:nvSpPr>
        <p:spPr>
          <a:xfrm xmlns:a="http://schemas.openxmlformats.org/drawingml/2006/main">
            <a:off x="6610350" y="2857500"/>
            <a:ext cx="4762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Qwen3-0.6B base model</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24 synthetic training examples</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8 held-out evaluation prompts</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Rank 4 • alpha 8 • one epoch</a:t>
            </a:r>
          </a:p>
          <a:p xmlns:a="http://schemas.openxmlformats.org/drawingml/2006/main">
            <a:pPr algn="l">
              <a:defRPr sz="1575" b="0">
                <a:solidFill>
                  <a:srgbClr val="12212B"/>
                </a:solidFill>
                <a:latin typeface="Arial"/>
                <a:ea typeface="Arial"/>
                <a:cs typeface="Arial"/>
              </a:defRPr>
            </a:pPr>
            <a:r>
              <a:rPr sz="1575" b="0">
                <a:solidFill>
                  <a:srgbClr val="12212B"/>
                </a:solidFill>
                <a:latin typeface="Arial"/>
                <a:ea typeface="Arial"/>
                <a:cs typeface="Arial"/>
              </a:rPr>
              <a:t>Logged as a separate MLflow run</a:t>
            </a:r>
          </a:p>
        </p:txBody>
      </p:sp>
      <p:sp>
        <p:nvSpPr>
          <p:cNvPr id="17" name="">
            <a:extLst xmlns:a="http://schemas.openxmlformats.org/drawingml/2006/main">
              <a:ext uri="{FF2B5EF4-FFF2-40B4-BE49-F238E27FC236}">
                <a16:creationId xmlns:a16="http://schemas.microsoft.com/office/drawing/2014/main" id="{44B61336-2A5A-4C5B-B83F-E4CAD5FA3808}"/>
              </a:ext>
            </a:extLst>
          </p:cNvPr>
          <p:cNvSpPr>
            <a:spLocks xmlns:a="http://schemas.openxmlformats.org/drawingml/2006/main" noGrp="1"/>
          </p:cNvSpPr>
          <p:nvPr/>
        </p:nvSpPr>
        <p:spPr>
          <a:xfrm xmlns:a="http://schemas.openxmlformats.org/drawingml/2006/main">
            <a:off x="6610350" y="5048250"/>
            <a:ext cx="4667250" cy="742950"/>
          </a:xfrm>
          <a:prstGeom xmlns:a="http://schemas.openxmlformats.org/drawingml/2006/main" prst="roundRect">
            <a:avLst>
              <a:gd name="adj" fmla="val 23077"/>
            </a:avLst>
          </a:prstGeom>
          <a:solidFill xmlns:a="http://schemas.openxmlformats.org/drawingml/2006/main">
            <a:srgbClr val="F7E5D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E238CC-42EA-4963-B416-FF38A48972EF}"/>
              </a:ext>
            </a:extLst>
          </p:cNvPr>
          <p:cNvSpPr>
            <a:spLocks xmlns:a="http://schemas.openxmlformats.org/drawingml/2006/main" noGrp="1"/>
          </p:cNvSpPr>
          <p:nvPr/>
        </p:nvSpPr>
        <p:spPr>
          <a:xfrm xmlns:a="http://schemas.openxmlformats.org/drawingml/2006/main">
            <a:off x="6838950" y="5200650"/>
            <a:ext cx="423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B65045"/>
                </a:solidFill>
                <a:latin typeface="Arial"/>
                <a:ea typeface="Arial"/>
                <a:cs typeface="Arial"/>
              </a:defRPr>
            </a:pPr>
            <a:r>
              <a:rPr sz="1350" b="1">
                <a:solidFill>
                  <a:srgbClr val="B65045"/>
                </a:solidFill>
                <a:latin typeface="Arial"/>
                <a:ea typeface="Arial"/>
                <a:cs typeface="Arial"/>
              </a:rPr>
              <a:t>Kept out of production</a:t>
            </a:r>
          </a:p>
        </p:txBody>
      </p:sp>
      <p:sp>
        <p:nvSpPr>
          <p:cNvPr id="19" name="">
            <a:extLst xmlns:a="http://schemas.openxmlformats.org/drawingml/2006/main">
              <a:ext uri="{FF2B5EF4-FFF2-40B4-BE49-F238E27FC236}">
                <a16:creationId xmlns:a16="http://schemas.microsoft.com/office/drawing/2014/main" id="{A30D5D8F-DC84-4DC8-A7C6-14A1EC3B0F4F}"/>
              </a:ext>
            </a:extLst>
          </p:cNvPr>
          <p:cNvSpPr>
            <a:spLocks xmlns:a="http://schemas.openxmlformats.org/drawingml/2006/main" noGrp="1"/>
          </p:cNvSpPr>
          <p:nvPr/>
        </p:nvSpPr>
        <p:spPr>
          <a:xfrm xmlns:a="http://schemas.openxmlformats.org/drawingml/2006/main">
            <a:off x="6838950" y="5486400"/>
            <a:ext cx="4238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00" b="0">
                <a:solidFill>
                  <a:srgbClr val="5D6B72"/>
                </a:solidFill>
                <a:latin typeface="Arial"/>
                <a:ea typeface="Arial"/>
                <a:cs typeface="Arial"/>
              </a:defRPr>
            </a:pPr>
            <a:r>
              <a:rPr sz="900" b="0">
                <a:solidFill>
                  <a:srgbClr val="5D6B72"/>
                </a:solidFill>
                <a:latin typeface="Arial"/>
                <a:ea typeface="Arial"/>
                <a:cs typeface="Arial"/>
              </a:rPr>
              <a:t>Citation quality was repetitive and unsupported</a:t>
            </a:r>
          </a:p>
        </p:txBody>
      </p:sp>
      <p:sp>
        <p:nvSpPr>
          <p:cNvPr id="20" name="">
            <a:extLst xmlns:a="http://schemas.openxmlformats.org/drawingml/2006/main">
              <a:ext uri="{FF2B5EF4-FFF2-40B4-BE49-F238E27FC236}">
                <a16:creationId xmlns:a16="http://schemas.microsoft.com/office/drawing/2014/main" id="{02443C3F-1D5D-4280-AD2D-ABE4EEBF1B78}"/>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21" name="">
            <a:extLst xmlns:a="http://schemas.openxmlformats.org/drawingml/2006/main">
              <a:ext uri="{FF2B5EF4-FFF2-40B4-BE49-F238E27FC236}">
                <a16:creationId xmlns:a16="http://schemas.microsoft.com/office/drawing/2014/main" id="{AD4F5F96-BFB4-4245-A290-210263562D12}"/>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05</a:t>
            </a:r>
          </a:p>
        </p:txBody>
      </p:sp>
    </p:spTree>
    <p:extLst>
      <p:ext uri="{BB962C8B-B14F-4D97-AF65-F5344CB8AC3E}">
        <p14:creationId xmlns:p14="http://schemas.microsoft.com/office/powerpoint/2010/main" val="213236648"/>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0A05B76-CF58-40E9-A004-8EE2C05F2C6E}"/>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05  EVALUATION EVIDENCE</a:t>
            </a:r>
          </a:p>
        </p:txBody>
      </p:sp>
      <p:sp>
        <p:nvSpPr>
          <p:cNvPr id="2" name="">
            <a:extLst xmlns:a="http://schemas.openxmlformats.org/drawingml/2006/main">
              <a:ext uri="{FF2B5EF4-FFF2-40B4-BE49-F238E27FC236}">
                <a16:creationId xmlns:a16="http://schemas.microsoft.com/office/drawing/2014/main" id="{AA435D74-75A0-44FB-9ACA-28EB234401B2}"/>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The cost model beats the baseline on the synthetic holdout</a:t>
            </a:r>
          </a:p>
        </p:txBody>
      </p:sp>
      <p:sp>
        <p:nvSpPr>
          <p:cNvPr id="3" name="">
            <a:extLst xmlns:a="http://schemas.openxmlformats.org/drawingml/2006/main">
              <a:ext uri="{FF2B5EF4-FFF2-40B4-BE49-F238E27FC236}">
                <a16:creationId xmlns:a16="http://schemas.microsoft.com/office/drawing/2014/main" id="{8E7C8701-7662-475E-B22B-EB37DB239A7C}"/>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All figures below come from tracked prototype runs.</a:t>
            </a:r>
          </a:p>
        </p:txBody>
      </p:sp>
      <p:sp>
        <p:nvSpPr>
          <p:cNvPr id="4" name="">
            <a:extLst xmlns:a="http://schemas.openxmlformats.org/drawingml/2006/main">
              <a:ext uri="{FF2B5EF4-FFF2-40B4-BE49-F238E27FC236}">
                <a16:creationId xmlns:a16="http://schemas.microsoft.com/office/drawing/2014/main" id="{719A058E-D00D-4AE3-8357-92076B436386}"/>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graphicFrame>
        <p:nvGraphicFramePr>
          <p:cNvPr id="23" name="Chart"/>
          <p:cNvGraphicFramePr/>
          <p:nvPr/>
        </p:nvGraphicFramePr>
        <p:xfrm>
          <a:off xmlns:a="http://schemas.openxmlformats.org/drawingml/2006/main" x="609600" y="1885950"/>
          <a:ext xmlns:a="http://schemas.openxmlformats.org/drawingml/2006/main" cx="6762750" cy="3733800"/>
        </p:xfrm>
        <a:graphic xmlns:a="http://schemas.openxmlformats.org/drawingml/2006/main">
          <a:graphicData uri="http://schemas.openxmlformats.org/drawingml/2006/chart">
            <c:chart xmlns:r="http://schemas.openxmlformats.org/officeDocument/2006/relationships" xmlns:c="http://schemas.openxmlformats.org/drawingml/2006/chart" r:id="R024e22ba2aa541bf"/>
          </a:graphicData>
        </a:graphic>
      </p:graphicFrame>
      <p:sp>
        <p:nvSpPr>
          <p:cNvPr id="6" name="">
            <a:extLst xmlns:a="http://schemas.openxmlformats.org/drawingml/2006/main">
              <a:ext uri="{FF2B5EF4-FFF2-40B4-BE49-F238E27FC236}">
                <a16:creationId xmlns:a16="http://schemas.microsoft.com/office/drawing/2014/main" id="{AA3C6817-A299-4EF8-92B7-1E646297C2BB}"/>
              </a:ext>
            </a:extLst>
          </p:cNvPr>
          <p:cNvSpPr>
            <a:spLocks xmlns:a="http://schemas.openxmlformats.org/drawingml/2006/main" noGrp="1"/>
          </p:cNvSpPr>
          <p:nvPr/>
        </p:nvSpPr>
        <p:spPr>
          <a:xfrm xmlns:a="http://schemas.openxmlformats.org/drawingml/2006/main">
            <a:off x="7829550" y="1885950"/>
            <a:ext cx="3752850" cy="3733800"/>
          </a:xfrm>
          <a:prstGeom xmlns:a="http://schemas.openxmlformats.org/drawingml/2006/main" prst="roundRect">
            <a:avLst>
              <a:gd name="adj" fmla="val 5102"/>
            </a:avLst>
          </a:prstGeom>
          <a:solidFill xmlns:a="http://schemas.openxmlformats.org/drawingml/2006/main">
            <a:srgbClr val="FFFFFF"/>
          </a:solidFill>
          <a:ln xmlns:a="http://schemas.openxmlformats.org/drawingml/2006/main" w="9525">
            <a:solidFill>
              <a:srgbClr val="D6D1C7"/>
            </a:solidFill>
            <a:prstDash val="solid"/>
          </a:ln>
        </p:spPr>
      </p:sp>
      <p:sp>
        <p:nvSpPr>
          <p:cNvPr id="7" name="">
            <a:extLst xmlns:a="http://schemas.openxmlformats.org/drawingml/2006/main">
              <a:ext uri="{FF2B5EF4-FFF2-40B4-BE49-F238E27FC236}">
                <a16:creationId xmlns:a16="http://schemas.microsoft.com/office/drawing/2014/main" id="{9409FF93-65CC-4DA9-95B4-493C40540C97}"/>
              </a:ext>
            </a:extLst>
          </p:cNvPr>
          <p:cNvSpPr>
            <a:spLocks xmlns:a="http://schemas.openxmlformats.org/drawingml/2006/main" noGrp="1"/>
          </p:cNvSpPr>
          <p:nvPr/>
        </p:nvSpPr>
        <p:spPr>
          <a:xfrm xmlns:a="http://schemas.openxmlformats.org/drawingml/2006/main">
            <a:off x="8172450" y="217170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2C7A78"/>
                </a:solidFill>
                <a:latin typeface="Arial"/>
                <a:ea typeface="Arial"/>
                <a:cs typeface="Arial"/>
              </a:defRPr>
            </a:pPr>
            <a:r>
              <a:rPr sz="2700" b="1">
                <a:solidFill>
                  <a:srgbClr val="2C7A78"/>
                </a:solidFill>
                <a:latin typeface="Arial"/>
                <a:ea typeface="Arial"/>
                <a:cs typeface="Arial"/>
              </a:rPr>
              <a:t>0.9817</a:t>
            </a:r>
          </a:p>
        </p:txBody>
      </p:sp>
      <p:sp>
        <p:nvSpPr>
          <p:cNvPr id="8" name="">
            <a:extLst xmlns:a="http://schemas.openxmlformats.org/drawingml/2006/main">
              <a:ext uri="{FF2B5EF4-FFF2-40B4-BE49-F238E27FC236}">
                <a16:creationId xmlns:a16="http://schemas.microsoft.com/office/drawing/2014/main" id="{EF9B69B9-E634-4FD4-AB92-643DD126CE84}"/>
              </a:ext>
            </a:extLst>
          </p:cNvPr>
          <p:cNvSpPr>
            <a:spLocks xmlns:a="http://schemas.openxmlformats.org/drawingml/2006/main" noGrp="1"/>
          </p:cNvSpPr>
          <p:nvPr/>
        </p:nvSpPr>
        <p:spPr>
          <a:xfrm xmlns:a="http://schemas.openxmlformats.org/drawingml/2006/main">
            <a:off x="8172450" y="26479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D6B72"/>
                </a:solidFill>
                <a:latin typeface="Arial"/>
                <a:ea typeface="Arial"/>
                <a:cs typeface="Arial"/>
              </a:defRPr>
            </a:pPr>
            <a:r>
              <a:rPr sz="1050" b="0">
                <a:solidFill>
                  <a:srgbClr val="5D6B72"/>
                </a:solidFill>
                <a:latin typeface="Arial"/>
                <a:ea typeface="Arial"/>
                <a:cs typeface="Arial"/>
              </a:rPr>
              <a:t>Random Forest R²</a:t>
            </a:r>
          </a:p>
        </p:txBody>
      </p:sp>
      <p:sp>
        <p:nvSpPr>
          <p:cNvPr id="9" name="">
            <a:extLst xmlns:a="http://schemas.openxmlformats.org/drawingml/2006/main">
              <a:ext uri="{FF2B5EF4-FFF2-40B4-BE49-F238E27FC236}">
                <a16:creationId xmlns:a16="http://schemas.microsoft.com/office/drawing/2014/main" id="{CE673F83-6883-4B0F-889F-5379F6651A6D}"/>
              </a:ext>
            </a:extLst>
          </p:cNvPr>
          <p:cNvSpPr>
            <a:spLocks xmlns:a="http://schemas.openxmlformats.org/drawingml/2006/main" noGrp="1"/>
          </p:cNvSpPr>
          <p:nvPr/>
        </p:nvSpPr>
        <p:spPr>
          <a:xfrm xmlns:a="http://schemas.openxmlformats.org/drawingml/2006/main">
            <a:off x="8172450" y="3048000"/>
            <a:ext cx="295275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10" name="">
            <a:extLst xmlns:a="http://schemas.openxmlformats.org/drawingml/2006/main">
              <a:ext uri="{FF2B5EF4-FFF2-40B4-BE49-F238E27FC236}">
                <a16:creationId xmlns:a16="http://schemas.microsoft.com/office/drawing/2014/main" id="{63419F2D-4689-4C55-A398-56AF84B4A1E0}"/>
              </a:ext>
            </a:extLst>
          </p:cNvPr>
          <p:cNvSpPr>
            <a:spLocks xmlns:a="http://schemas.openxmlformats.org/drawingml/2006/main" noGrp="1"/>
          </p:cNvSpPr>
          <p:nvPr/>
        </p:nvSpPr>
        <p:spPr>
          <a:xfrm xmlns:a="http://schemas.openxmlformats.org/drawingml/2006/main">
            <a:off x="8172450" y="327660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E38B35"/>
                </a:solidFill>
                <a:latin typeface="Arial"/>
                <a:ea typeface="Arial"/>
                <a:cs typeface="Arial"/>
              </a:defRPr>
            </a:pPr>
            <a:r>
              <a:rPr sz="2700" b="1">
                <a:solidFill>
                  <a:srgbClr val="E38B35"/>
                </a:solidFill>
                <a:latin typeface="Arial"/>
                <a:ea typeface="Arial"/>
                <a:cs typeface="Arial"/>
              </a:rPr>
              <a:t>₹2.44M</a:t>
            </a:r>
          </a:p>
        </p:txBody>
      </p:sp>
      <p:sp>
        <p:nvSpPr>
          <p:cNvPr id="11" name="">
            <a:extLst xmlns:a="http://schemas.openxmlformats.org/drawingml/2006/main">
              <a:ext uri="{FF2B5EF4-FFF2-40B4-BE49-F238E27FC236}">
                <a16:creationId xmlns:a16="http://schemas.microsoft.com/office/drawing/2014/main" id="{4044C6F5-24F8-42DF-B010-3D62DEC158DA}"/>
              </a:ext>
            </a:extLst>
          </p:cNvPr>
          <p:cNvSpPr>
            <a:spLocks xmlns:a="http://schemas.openxmlformats.org/drawingml/2006/main" noGrp="1"/>
          </p:cNvSpPr>
          <p:nvPr/>
        </p:nvSpPr>
        <p:spPr>
          <a:xfrm xmlns:a="http://schemas.openxmlformats.org/drawingml/2006/main">
            <a:off x="8172450" y="37528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D6B72"/>
                </a:solidFill>
                <a:latin typeface="Arial"/>
                <a:ea typeface="Arial"/>
                <a:cs typeface="Arial"/>
              </a:defRPr>
            </a:pPr>
            <a:r>
              <a:rPr sz="1050" b="0">
                <a:solidFill>
                  <a:srgbClr val="5D6B72"/>
                </a:solidFill>
                <a:latin typeface="Arial"/>
                <a:ea typeface="Arial"/>
                <a:cs typeface="Arial"/>
              </a:rPr>
              <a:t>Root mean squared error</a:t>
            </a:r>
          </a:p>
        </p:txBody>
      </p:sp>
      <p:sp>
        <p:nvSpPr>
          <p:cNvPr id="12" name="">
            <a:extLst xmlns:a="http://schemas.openxmlformats.org/drawingml/2006/main">
              <a:ext uri="{FF2B5EF4-FFF2-40B4-BE49-F238E27FC236}">
                <a16:creationId xmlns:a16="http://schemas.microsoft.com/office/drawing/2014/main" id="{F1B82DEF-B354-43F1-A418-40543ECFA096}"/>
              </a:ext>
            </a:extLst>
          </p:cNvPr>
          <p:cNvSpPr>
            <a:spLocks xmlns:a="http://schemas.openxmlformats.org/drawingml/2006/main" noGrp="1"/>
          </p:cNvSpPr>
          <p:nvPr/>
        </p:nvSpPr>
        <p:spPr>
          <a:xfrm xmlns:a="http://schemas.openxmlformats.org/drawingml/2006/main">
            <a:off x="8172450" y="4152900"/>
            <a:ext cx="295275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13" name="">
            <a:extLst xmlns:a="http://schemas.openxmlformats.org/drawingml/2006/main">
              <a:ext uri="{FF2B5EF4-FFF2-40B4-BE49-F238E27FC236}">
                <a16:creationId xmlns:a16="http://schemas.microsoft.com/office/drawing/2014/main" id="{2ABE2C18-1C89-4CF8-80D2-703BD4F02991}"/>
              </a:ext>
            </a:extLst>
          </p:cNvPr>
          <p:cNvSpPr>
            <a:spLocks xmlns:a="http://schemas.openxmlformats.org/drawingml/2006/main" noGrp="1"/>
          </p:cNvSpPr>
          <p:nvPr/>
        </p:nvSpPr>
        <p:spPr>
          <a:xfrm xmlns:a="http://schemas.openxmlformats.org/drawingml/2006/main">
            <a:off x="8172450" y="438150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2304A"/>
                </a:solidFill>
                <a:latin typeface="Arial"/>
                <a:ea typeface="Arial"/>
                <a:cs typeface="Arial"/>
              </a:defRPr>
            </a:pPr>
            <a:r>
              <a:rPr sz="2700" b="1">
                <a:solidFill>
                  <a:srgbClr val="12304A"/>
                </a:solidFill>
                <a:latin typeface="Arial"/>
                <a:ea typeface="Arial"/>
                <a:cs typeface="Arial"/>
              </a:rPr>
              <a:t>10 / 12</a:t>
            </a:r>
          </a:p>
        </p:txBody>
      </p:sp>
      <p:sp>
        <p:nvSpPr>
          <p:cNvPr id="14" name="">
            <a:extLst xmlns:a="http://schemas.openxmlformats.org/drawingml/2006/main">
              <a:ext uri="{FF2B5EF4-FFF2-40B4-BE49-F238E27FC236}">
                <a16:creationId xmlns:a16="http://schemas.microsoft.com/office/drawing/2014/main" id="{821ED29D-5221-4A89-B590-59FA64E616BE}"/>
              </a:ext>
            </a:extLst>
          </p:cNvPr>
          <p:cNvSpPr>
            <a:spLocks xmlns:a="http://schemas.openxmlformats.org/drawingml/2006/main" noGrp="1"/>
          </p:cNvSpPr>
          <p:nvPr/>
        </p:nvSpPr>
        <p:spPr>
          <a:xfrm xmlns:a="http://schemas.openxmlformats.org/drawingml/2006/main">
            <a:off x="8172450" y="48577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D6B72"/>
                </a:solidFill>
                <a:latin typeface="Arial"/>
                <a:ea typeface="Arial"/>
                <a:cs typeface="Arial"/>
              </a:defRPr>
            </a:pPr>
            <a:r>
              <a:rPr sz="1050" b="0">
                <a:solidFill>
                  <a:srgbClr val="5D6B72"/>
                </a:solidFill>
                <a:latin typeface="Arial"/>
                <a:ea typeface="Arial"/>
                <a:cs typeface="Arial"/>
              </a:rPr>
              <a:t>RAG questions passed full checks</a:t>
            </a:r>
          </a:p>
        </p:txBody>
      </p:sp>
      <p:sp>
        <p:nvSpPr>
          <p:cNvPr id="15" name="">
            <a:extLst xmlns:a="http://schemas.openxmlformats.org/drawingml/2006/main">
              <a:ext uri="{FF2B5EF4-FFF2-40B4-BE49-F238E27FC236}">
                <a16:creationId xmlns:a16="http://schemas.microsoft.com/office/drawing/2014/main" id="{0AACBB27-A86D-4560-870C-44CDDB6FF40F}"/>
              </a:ext>
            </a:extLst>
          </p:cNvPr>
          <p:cNvSpPr>
            <a:spLocks xmlns:a="http://schemas.openxmlformats.org/drawingml/2006/main" noGrp="1"/>
          </p:cNvSpPr>
          <p:nvPr/>
        </p:nvSpPr>
        <p:spPr>
          <a:xfrm xmlns:a="http://schemas.openxmlformats.org/drawingml/2006/main">
            <a:off x="8382000" y="5772150"/>
            <a:ext cx="2590800" cy="285750"/>
          </a:xfrm>
          <a:prstGeom xmlns:a="http://schemas.openxmlformats.org/drawingml/2006/main" prst="roundRect">
            <a:avLst>
              <a:gd name="adj" fmla="val 50000"/>
            </a:avLst>
          </a:prstGeom>
          <a:solidFill xmlns:a="http://schemas.openxmlformats.org/drawingml/2006/main">
            <a:srgbClr val="F7E5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93DE4D3-5AFA-4A00-B140-8CC3DFDF5074}"/>
              </a:ext>
            </a:extLst>
          </p:cNvPr>
          <p:cNvSpPr>
            <a:spLocks xmlns:a="http://schemas.openxmlformats.org/drawingml/2006/main" noGrp="1"/>
          </p:cNvSpPr>
          <p:nvPr/>
        </p:nvSpPr>
        <p:spPr>
          <a:xfrm xmlns:a="http://schemas.openxmlformats.org/drawingml/2006/main">
            <a:off x="8477250" y="5791200"/>
            <a:ext cx="2400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12212B"/>
                </a:solidFill>
                <a:latin typeface="Arial"/>
                <a:ea typeface="Arial"/>
                <a:cs typeface="Arial"/>
              </a:defRPr>
            </a:pPr>
            <a:r>
              <a:rPr sz="900" b="1">
                <a:solidFill>
                  <a:srgbClr val="12212B"/>
                </a:solidFill>
                <a:latin typeface="Arial"/>
                <a:ea typeface="Arial"/>
                <a:cs typeface="Arial"/>
              </a:rPr>
              <a:t>Synthetic evaluation data</a:t>
            </a:r>
          </a:p>
        </p:txBody>
      </p:sp>
      <p:sp>
        <p:nvSpPr>
          <p:cNvPr id="17" name="">
            <a:extLst xmlns:a="http://schemas.openxmlformats.org/drawingml/2006/main">
              <a:ext uri="{FF2B5EF4-FFF2-40B4-BE49-F238E27FC236}">
                <a16:creationId xmlns:a16="http://schemas.microsoft.com/office/drawing/2014/main" id="{7C66027F-4129-4DA2-86B9-1A8B02E614A5}"/>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18" name="">
            <a:extLst xmlns:a="http://schemas.openxmlformats.org/drawingml/2006/main">
              <a:ext uri="{FF2B5EF4-FFF2-40B4-BE49-F238E27FC236}">
                <a16:creationId xmlns:a16="http://schemas.microsoft.com/office/drawing/2014/main" id="{4F060316-C77D-4853-B3E9-0028818A76B2}"/>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06</a:t>
            </a:r>
          </a:p>
        </p:txBody>
      </p:sp>
    </p:spTree>
    <p:extLst>
      <p:ext uri="{BB962C8B-B14F-4D97-AF65-F5344CB8AC3E}">
        <p14:creationId xmlns:p14="http://schemas.microsoft.com/office/powerpoint/2010/main" val="1486166438"/>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9032201-015F-439A-8C13-059AF856E4EA}"/>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06  MLOPS LIFECYCLE</a:t>
            </a:r>
          </a:p>
        </p:txBody>
      </p:sp>
      <p:sp>
        <p:nvSpPr>
          <p:cNvPr id="2" name="">
            <a:extLst xmlns:a="http://schemas.openxmlformats.org/drawingml/2006/main">
              <a:ext uri="{FF2B5EF4-FFF2-40B4-BE49-F238E27FC236}">
                <a16:creationId xmlns:a16="http://schemas.microsoft.com/office/drawing/2014/main" id="{96256881-6544-4E81-A007-7B92CB1AEF26}"/>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Quality gates decide whether a candidate becomes production</a:t>
            </a:r>
          </a:p>
        </p:txBody>
      </p:sp>
      <p:sp>
        <p:nvSpPr>
          <p:cNvPr id="3" name="">
            <a:extLst xmlns:a="http://schemas.openxmlformats.org/drawingml/2006/main">
              <a:ext uri="{FF2B5EF4-FFF2-40B4-BE49-F238E27FC236}">
                <a16:creationId xmlns:a16="http://schemas.microsoft.com/office/drawing/2014/main" id="{A9DABE51-7C86-494B-8055-809539FAA40A}"/>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MLflow records parameters, metrics, artifacts and model versions for every experiment.</a:t>
            </a:r>
          </a:p>
        </p:txBody>
      </p:sp>
      <p:sp>
        <p:nvSpPr>
          <p:cNvPr id="4" name="">
            <a:extLst xmlns:a="http://schemas.openxmlformats.org/drawingml/2006/main">
              <a:ext uri="{FF2B5EF4-FFF2-40B4-BE49-F238E27FC236}">
                <a16:creationId xmlns:a16="http://schemas.microsoft.com/office/drawing/2014/main" id="{5CDC9F6D-6B86-4432-B452-91995145A999}"/>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93C10F2B-510E-4EA3-AB4E-077AE85D2510}"/>
              </a:ext>
            </a:extLst>
          </p:cNvPr>
          <p:cNvSpPr>
            <a:spLocks xmlns:a="http://schemas.openxmlformats.org/drawingml/2006/main" noGrp="1"/>
          </p:cNvSpPr>
          <p:nvPr/>
        </p:nvSpPr>
        <p:spPr>
          <a:xfrm xmlns:a="http://schemas.openxmlformats.org/drawingml/2006/main">
            <a:off x="609600" y="2095500"/>
            <a:ext cx="146685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6D1C7"/>
            </a:solidFill>
            <a:prstDash val="solid"/>
          </a:ln>
        </p:spPr>
      </p:sp>
      <p:sp>
        <p:nvSpPr>
          <p:cNvPr id="6" name="">
            <a:extLst xmlns:a="http://schemas.openxmlformats.org/drawingml/2006/main">
              <a:ext uri="{FF2B5EF4-FFF2-40B4-BE49-F238E27FC236}">
                <a16:creationId xmlns:a16="http://schemas.microsoft.com/office/drawing/2014/main" id="{064A483C-66D0-41EC-97E5-78DC8A62DDCC}"/>
              </a:ext>
            </a:extLst>
          </p:cNvPr>
          <p:cNvSpPr>
            <a:spLocks xmlns:a="http://schemas.openxmlformats.org/drawingml/2006/main" noGrp="1"/>
          </p:cNvSpPr>
          <p:nvPr/>
        </p:nvSpPr>
        <p:spPr>
          <a:xfrm xmlns:a="http://schemas.openxmlformats.org/drawingml/2006/main">
            <a:off x="70485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Validate</a:t>
            </a:r>
          </a:p>
        </p:txBody>
      </p:sp>
      <p:sp>
        <p:nvSpPr>
          <p:cNvPr id="7" name="">
            <a:extLst xmlns:a="http://schemas.openxmlformats.org/drawingml/2006/main">
              <a:ext uri="{FF2B5EF4-FFF2-40B4-BE49-F238E27FC236}">
                <a16:creationId xmlns:a16="http://schemas.microsoft.com/office/drawing/2014/main" id="{E588F1E3-F88B-457D-9A05-DF9EBEFB9422}"/>
              </a:ext>
            </a:extLst>
          </p:cNvPr>
          <p:cNvSpPr>
            <a:spLocks xmlns:a="http://schemas.openxmlformats.org/drawingml/2006/main" noGrp="1"/>
          </p:cNvSpPr>
          <p:nvPr/>
        </p:nvSpPr>
        <p:spPr>
          <a:xfrm xmlns:a="http://schemas.openxmlformats.org/drawingml/2006/main">
            <a:off x="2419350" y="2095500"/>
            <a:ext cx="146685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6D1C7"/>
            </a:solidFill>
            <a:prstDash val="solid"/>
          </a:ln>
        </p:spPr>
      </p:sp>
      <p:sp>
        <p:nvSpPr>
          <p:cNvPr id="8" name="">
            <a:extLst xmlns:a="http://schemas.openxmlformats.org/drawingml/2006/main">
              <a:ext uri="{FF2B5EF4-FFF2-40B4-BE49-F238E27FC236}">
                <a16:creationId xmlns:a16="http://schemas.microsoft.com/office/drawing/2014/main" id="{7353D090-0600-43A6-AABE-0400E82D786C}"/>
              </a:ext>
            </a:extLst>
          </p:cNvPr>
          <p:cNvSpPr>
            <a:spLocks xmlns:a="http://schemas.openxmlformats.org/drawingml/2006/main" noGrp="1"/>
          </p:cNvSpPr>
          <p:nvPr/>
        </p:nvSpPr>
        <p:spPr>
          <a:xfrm xmlns:a="http://schemas.openxmlformats.org/drawingml/2006/main">
            <a:off x="251460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Train</a:t>
            </a:r>
          </a:p>
        </p:txBody>
      </p:sp>
      <p:cxnSp>
        <p:nvCxnSpPr>
          <p:cNvPr id="42" name=""/>
          <p:cNvCxnSpPr>
            <a:stCxn xmlns:a="http://schemas.openxmlformats.org/drawingml/2006/main" id="5" idx="3"/>
            <a:endCxn xmlns:a="http://schemas.openxmlformats.org/drawingml/2006/main" id="7" idx="1"/>
          </p:cNvCxnSpPr>
          <p:nvPr/>
        </p:nvCxnSpPr>
        <p:spPr>
          <a:xfrm xmlns:a="http://schemas.openxmlformats.org/drawingml/2006/main">
            <a:off x="2076450" y="2438400"/>
            <a:ext cx="342900" cy="0"/>
          </a:xfrm>
          <a:prstGeom xmlns:a="http://schemas.openxmlformats.org/drawingml/2006/main" prst="straightConnector1">
            <a:avLst/>
          </a:prstGeom>
          <a:ln xmlns:a="http://schemas.openxmlformats.org/drawingml/2006/main" w="19050">
            <a:solidFill>
              <a:srgbClr val="2C7A78"/>
            </a:solidFill>
            <a:prstDash val="solid"/>
            <a:headEnd type="triangle" w="sm" len="sm"/>
          </a:ln>
        </p:spPr>
      </p:cxnSp>
      <p:sp>
        <p:nvSpPr>
          <p:cNvPr id="10" name="">
            <a:extLst xmlns:a="http://schemas.openxmlformats.org/drawingml/2006/main">
              <a:ext uri="{FF2B5EF4-FFF2-40B4-BE49-F238E27FC236}">
                <a16:creationId xmlns:a16="http://schemas.microsoft.com/office/drawing/2014/main" id="{6DB72BFA-3E93-436D-A4FD-81D4BE48E070}"/>
              </a:ext>
            </a:extLst>
          </p:cNvPr>
          <p:cNvSpPr>
            <a:spLocks xmlns:a="http://schemas.openxmlformats.org/drawingml/2006/main" noGrp="1"/>
          </p:cNvSpPr>
          <p:nvPr/>
        </p:nvSpPr>
        <p:spPr>
          <a:xfrm xmlns:a="http://schemas.openxmlformats.org/drawingml/2006/main">
            <a:off x="4229100" y="2095500"/>
            <a:ext cx="146685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6D1C7"/>
            </a:solidFill>
            <a:prstDash val="solid"/>
          </a:ln>
        </p:spPr>
      </p:sp>
      <p:sp>
        <p:nvSpPr>
          <p:cNvPr id="11" name="">
            <a:extLst xmlns:a="http://schemas.openxmlformats.org/drawingml/2006/main">
              <a:ext uri="{FF2B5EF4-FFF2-40B4-BE49-F238E27FC236}">
                <a16:creationId xmlns:a16="http://schemas.microsoft.com/office/drawing/2014/main" id="{72471054-B698-44B1-B79F-DC17D44B212F}"/>
              </a:ext>
            </a:extLst>
          </p:cNvPr>
          <p:cNvSpPr>
            <a:spLocks xmlns:a="http://schemas.openxmlformats.org/drawingml/2006/main" noGrp="1"/>
          </p:cNvSpPr>
          <p:nvPr/>
        </p:nvSpPr>
        <p:spPr>
          <a:xfrm xmlns:a="http://schemas.openxmlformats.org/drawingml/2006/main">
            <a:off x="432435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Evaluate</a:t>
            </a:r>
          </a:p>
        </p:txBody>
      </p:sp>
      <p:cxnSp>
        <p:nvCxnSpPr>
          <p:cNvPr id="45" name=""/>
          <p:cNvCxnSpPr>
            <a:stCxn xmlns:a="http://schemas.openxmlformats.org/drawingml/2006/main" id="7" idx="3"/>
            <a:endCxn xmlns:a="http://schemas.openxmlformats.org/drawingml/2006/main" id="10" idx="1"/>
          </p:cNvCxnSpPr>
          <p:nvPr/>
        </p:nvCxnSpPr>
        <p:spPr>
          <a:xfrm xmlns:a="http://schemas.openxmlformats.org/drawingml/2006/main">
            <a:off x="3886200" y="2438400"/>
            <a:ext cx="342900" cy="0"/>
          </a:xfrm>
          <a:prstGeom xmlns:a="http://schemas.openxmlformats.org/drawingml/2006/main" prst="straightConnector1">
            <a:avLst/>
          </a:prstGeom>
          <a:ln xmlns:a="http://schemas.openxmlformats.org/drawingml/2006/main" w="19050">
            <a:solidFill>
              <a:srgbClr val="2C7A78"/>
            </a:solidFill>
            <a:prstDash val="solid"/>
            <a:headEnd type="triangle" w="sm" len="sm"/>
          </a:ln>
        </p:spPr>
      </p:cxnSp>
      <p:sp>
        <p:nvSpPr>
          <p:cNvPr id="13" name="">
            <a:extLst xmlns:a="http://schemas.openxmlformats.org/drawingml/2006/main">
              <a:ext uri="{FF2B5EF4-FFF2-40B4-BE49-F238E27FC236}">
                <a16:creationId xmlns:a16="http://schemas.microsoft.com/office/drawing/2014/main" id="{B4AB9299-5563-4C75-8BB4-5E30CDD3BEA4}"/>
              </a:ext>
            </a:extLst>
          </p:cNvPr>
          <p:cNvSpPr>
            <a:spLocks xmlns:a="http://schemas.openxmlformats.org/drawingml/2006/main" noGrp="1"/>
          </p:cNvSpPr>
          <p:nvPr/>
        </p:nvSpPr>
        <p:spPr>
          <a:xfrm xmlns:a="http://schemas.openxmlformats.org/drawingml/2006/main">
            <a:off x="6038850" y="2095500"/>
            <a:ext cx="1466850" cy="685800"/>
          </a:xfrm>
          <a:prstGeom xmlns:a="http://schemas.openxmlformats.org/drawingml/2006/main" prst="roundRect">
            <a:avLst>
              <a:gd name="adj" fmla="val 22222"/>
            </a:avLst>
          </a:prstGeom>
          <a:solidFill xmlns:a="http://schemas.openxmlformats.org/drawingml/2006/main">
            <a:srgbClr val="E38B3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E9C19C0-BD7D-4094-AAE8-6D51BD80C4FC}"/>
              </a:ext>
            </a:extLst>
          </p:cNvPr>
          <p:cNvSpPr>
            <a:spLocks xmlns:a="http://schemas.openxmlformats.org/drawingml/2006/main" noGrp="1"/>
          </p:cNvSpPr>
          <p:nvPr/>
        </p:nvSpPr>
        <p:spPr>
          <a:xfrm xmlns:a="http://schemas.openxmlformats.org/drawingml/2006/main">
            <a:off x="613410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Gate</a:t>
            </a:r>
          </a:p>
        </p:txBody>
      </p:sp>
      <p:cxnSp>
        <p:nvCxnSpPr>
          <p:cNvPr id="48" name=""/>
          <p:cNvCxnSpPr>
            <a:stCxn xmlns:a="http://schemas.openxmlformats.org/drawingml/2006/main" id="10" idx="3"/>
            <a:endCxn xmlns:a="http://schemas.openxmlformats.org/drawingml/2006/main" id="13" idx="1"/>
          </p:cNvCxnSpPr>
          <p:nvPr/>
        </p:nvCxnSpPr>
        <p:spPr>
          <a:xfrm xmlns:a="http://schemas.openxmlformats.org/drawingml/2006/main">
            <a:off x="5695950" y="2438400"/>
            <a:ext cx="342900" cy="0"/>
          </a:xfrm>
          <a:prstGeom xmlns:a="http://schemas.openxmlformats.org/drawingml/2006/main" prst="straightConnector1">
            <a:avLst/>
          </a:prstGeom>
          <a:ln xmlns:a="http://schemas.openxmlformats.org/drawingml/2006/main" w="19050">
            <a:solidFill>
              <a:srgbClr val="2C7A78"/>
            </a:solidFill>
            <a:prstDash val="solid"/>
            <a:headEnd type="triangle" w="sm" len="sm"/>
          </a:ln>
        </p:spPr>
      </p:cxnSp>
      <p:sp>
        <p:nvSpPr>
          <p:cNvPr id="16" name="">
            <a:extLst xmlns:a="http://schemas.openxmlformats.org/drawingml/2006/main">
              <a:ext uri="{FF2B5EF4-FFF2-40B4-BE49-F238E27FC236}">
                <a16:creationId xmlns:a16="http://schemas.microsoft.com/office/drawing/2014/main" id="{6440CD1F-33F7-42AD-94CE-FB166D07DDAC}"/>
              </a:ext>
            </a:extLst>
          </p:cNvPr>
          <p:cNvSpPr>
            <a:spLocks xmlns:a="http://schemas.openxmlformats.org/drawingml/2006/main" noGrp="1"/>
          </p:cNvSpPr>
          <p:nvPr/>
        </p:nvSpPr>
        <p:spPr>
          <a:xfrm xmlns:a="http://schemas.openxmlformats.org/drawingml/2006/main">
            <a:off x="7848600" y="2095500"/>
            <a:ext cx="146685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6D1C7"/>
            </a:solidFill>
            <a:prstDash val="solid"/>
          </a:ln>
        </p:spPr>
      </p:sp>
      <p:sp>
        <p:nvSpPr>
          <p:cNvPr id="17" name="">
            <a:extLst xmlns:a="http://schemas.openxmlformats.org/drawingml/2006/main">
              <a:ext uri="{FF2B5EF4-FFF2-40B4-BE49-F238E27FC236}">
                <a16:creationId xmlns:a16="http://schemas.microsoft.com/office/drawing/2014/main" id="{B52A640B-E1C0-4FA8-8209-FA946C919E9F}"/>
              </a:ext>
            </a:extLst>
          </p:cNvPr>
          <p:cNvSpPr>
            <a:spLocks xmlns:a="http://schemas.openxmlformats.org/drawingml/2006/main" noGrp="1"/>
          </p:cNvSpPr>
          <p:nvPr/>
        </p:nvSpPr>
        <p:spPr>
          <a:xfrm xmlns:a="http://schemas.openxmlformats.org/drawingml/2006/main">
            <a:off x="794385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2212B"/>
                </a:solidFill>
                <a:latin typeface="Arial"/>
                <a:ea typeface="Arial"/>
                <a:cs typeface="Arial"/>
              </a:defRPr>
            </a:pPr>
            <a:r>
              <a:rPr sz="1350" b="1">
                <a:solidFill>
                  <a:srgbClr val="12212B"/>
                </a:solidFill>
                <a:latin typeface="Arial"/>
                <a:ea typeface="Arial"/>
                <a:cs typeface="Arial"/>
              </a:rPr>
              <a:t>Promote</a:t>
            </a:r>
          </a:p>
        </p:txBody>
      </p:sp>
      <p:cxnSp>
        <p:nvCxnSpPr>
          <p:cNvPr id="51" name=""/>
          <p:cNvCxnSpPr>
            <a:stCxn xmlns:a="http://schemas.openxmlformats.org/drawingml/2006/main" id="13" idx="3"/>
            <a:endCxn xmlns:a="http://schemas.openxmlformats.org/drawingml/2006/main" id="16" idx="1"/>
          </p:cNvCxnSpPr>
          <p:nvPr/>
        </p:nvCxnSpPr>
        <p:spPr>
          <a:xfrm xmlns:a="http://schemas.openxmlformats.org/drawingml/2006/main">
            <a:off x="7505700" y="2438400"/>
            <a:ext cx="342900" cy="0"/>
          </a:xfrm>
          <a:prstGeom xmlns:a="http://schemas.openxmlformats.org/drawingml/2006/main" prst="straightConnector1">
            <a:avLst/>
          </a:prstGeom>
          <a:ln xmlns:a="http://schemas.openxmlformats.org/drawingml/2006/main" w="19050">
            <a:solidFill>
              <a:srgbClr val="2C7A78"/>
            </a:solidFill>
            <a:prstDash val="solid"/>
            <a:headEnd type="triangle" w="sm" len="sm"/>
          </a:ln>
        </p:spPr>
      </p:cxnSp>
      <p:sp>
        <p:nvSpPr>
          <p:cNvPr id="19" name="">
            <a:extLst xmlns:a="http://schemas.openxmlformats.org/drawingml/2006/main">
              <a:ext uri="{FF2B5EF4-FFF2-40B4-BE49-F238E27FC236}">
                <a16:creationId xmlns:a16="http://schemas.microsoft.com/office/drawing/2014/main" id="{A8BB59A1-56AB-4D63-85BB-364838DB65ED}"/>
              </a:ext>
            </a:extLst>
          </p:cNvPr>
          <p:cNvSpPr>
            <a:spLocks xmlns:a="http://schemas.openxmlformats.org/drawingml/2006/main" noGrp="1"/>
          </p:cNvSpPr>
          <p:nvPr/>
        </p:nvSpPr>
        <p:spPr>
          <a:xfrm xmlns:a="http://schemas.openxmlformats.org/drawingml/2006/main">
            <a:off x="9658350" y="2095500"/>
            <a:ext cx="1466850" cy="685800"/>
          </a:xfrm>
          <a:prstGeom xmlns:a="http://schemas.openxmlformats.org/drawingml/2006/main" prst="roundRect">
            <a:avLst>
              <a:gd name="adj" fmla="val 22222"/>
            </a:avLst>
          </a:prstGeom>
          <a:solidFill xmlns:a="http://schemas.openxmlformats.org/drawingml/2006/main">
            <a:srgbClr val="12304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70BF711-5285-4836-84DF-40BE7BDEC0EF}"/>
              </a:ext>
            </a:extLst>
          </p:cNvPr>
          <p:cNvSpPr>
            <a:spLocks xmlns:a="http://schemas.openxmlformats.org/drawingml/2006/main" noGrp="1"/>
          </p:cNvSpPr>
          <p:nvPr/>
        </p:nvSpPr>
        <p:spPr>
          <a:xfrm xmlns:a="http://schemas.openxmlformats.org/drawingml/2006/main">
            <a:off x="9753600" y="22669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Monitor</a:t>
            </a:r>
          </a:p>
        </p:txBody>
      </p:sp>
      <p:cxnSp>
        <p:nvCxnSpPr>
          <p:cNvPr id="54" name=""/>
          <p:cNvCxnSpPr>
            <a:stCxn xmlns:a="http://schemas.openxmlformats.org/drawingml/2006/main" id="16" idx="3"/>
            <a:endCxn xmlns:a="http://schemas.openxmlformats.org/drawingml/2006/main" id="19" idx="1"/>
          </p:cNvCxnSpPr>
          <p:nvPr/>
        </p:nvCxnSpPr>
        <p:spPr>
          <a:xfrm xmlns:a="http://schemas.openxmlformats.org/drawingml/2006/main">
            <a:off x="9315450" y="2438400"/>
            <a:ext cx="342900" cy="0"/>
          </a:xfrm>
          <a:prstGeom xmlns:a="http://schemas.openxmlformats.org/drawingml/2006/main" prst="straightConnector1">
            <a:avLst/>
          </a:prstGeom>
          <a:ln xmlns:a="http://schemas.openxmlformats.org/drawingml/2006/main" w="19050">
            <a:solidFill>
              <a:srgbClr val="2C7A78"/>
            </a:solidFill>
            <a:prstDash val="solid"/>
            <a:headEnd type="triangle" w="sm" len="sm"/>
          </a:ln>
        </p:spPr>
      </p:cxnSp>
      <p:sp>
        <p:nvSpPr>
          <p:cNvPr id="22" name="">
            <a:extLst xmlns:a="http://schemas.openxmlformats.org/drawingml/2006/main">
              <a:ext uri="{FF2B5EF4-FFF2-40B4-BE49-F238E27FC236}">
                <a16:creationId xmlns:a16="http://schemas.microsoft.com/office/drawing/2014/main" id="{EB4A282A-ED1C-4E28-926C-11D9B903A35D}"/>
              </a:ext>
            </a:extLst>
          </p:cNvPr>
          <p:cNvSpPr>
            <a:spLocks xmlns:a="http://schemas.openxmlformats.org/drawingml/2006/main" noGrp="1"/>
          </p:cNvSpPr>
          <p:nvPr/>
        </p:nvSpPr>
        <p:spPr>
          <a:xfrm xmlns:a="http://schemas.openxmlformats.org/drawingml/2006/main">
            <a:off x="609600" y="3314700"/>
            <a:ext cx="10972800" cy="2209800"/>
          </a:xfrm>
          <a:prstGeom xmlns:a="http://schemas.openxmlformats.org/drawingml/2006/main" prst="roundRect">
            <a:avLst>
              <a:gd name="adj" fmla="val 8621"/>
            </a:avLst>
          </a:prstGeom>
          <a:solidFill xmlns:a="http://schemas.openxmlformats.org/drawingml/2006/main">
            <a:srgbClr val="FFFFFF"/>
          </a:solidFill>
          <a:ln xmlns:a="http://schemas.openxmlformats.org/drawingml/2006/main" w="9525">
            <a:solidFill>
              <a:srgbClr val="D6D1C7"/>
            </a:solidFill>
            <a:prstDash val="solid"/>
          </a:ln>
        </p:spPr>
      </p:sp>
      <p:sp>
        <p:nvSpPr>
          <p:cNvPr id="23" name="">
            <a:extLst xmlns:a="http://schemas.openxmlformats.org/drawingml/2006/main">
              <a:ext uri="{FF2B5EF4-FFF2-40B4-BE49-F238E27FC236}">
                <a16:creationId xmlns:a16="http://schemas.microsoft.com/office/drawing/2014/main" id="{14923A81-0281-4ADF-99C6-F3D6A9C25311}"/>
              </a:ext>
            </a:extLst>
          </p:cNvPr>
          <p:cNvSpPr>
            <a:spLocks xmlns:a="http://schemas.openxmlformats.org/drawingml/2006/main" noGrp="1"/>
          </p:cNvSpPr>
          <p:nvPr/>
        </p:nvSpPr>
        <p:spPr>
          <a:xfrm xmlns:a="http://schemas.openxmlformats.org/drawingml/2006/main">
            <a:off x="876300" y="352425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2212B"/>
                </a:solidFill>
                <a:latin typeface="Arial"/>
                <a:ea typeface="Arial"/>
                <a:cs typeface="Arial"/>
              </a:defRPr>
            </a:pPr>
            <a:r>
              <a:rPr sz="1800" b="1">
                <a:solidFill>
                  <a:srgbClr val="12212B"/>
                </a:solidFill>
                <a:latin typeface="Arial"/>
                <a:ea typeface="Arial"/>
                <a:cs typeface="Arial"/>
              </a:rPr>
              <a:t>Drift and rollback demonstration</a:t>
            </a:r>
          </a:p>
        </p:txBody>
      </p:sp>
      <p:sp>
        <p:nvSpPr>
          <p:cNvPr id="24" name="">
            <a:extLst xmlns:a="http://schemas.openxmlformats.org/drawingml/2006/main">
              <a:ext uri="{FF2B5EF4-FFF2-40B4-BE49-F238E27FC236}">
                <a16:creationId xmlns:a16="http://schemas.microsoft.com/office/drawing/2014/main" id="{5BCAACF1-9943-40F7-ADDB-A6B95824F66A}"/>
              </a:ext>
            </a:extLst>
          </p:cNvPr>
          <p:cNvSpPr>
            <a:spLocks xmlns:a="http://schemas.openxmlformats.org/drawingml/2006/main" noGrp="1"/>
          </p:cNvSpPr>
          <p:nvPr/>
        </p:nvSpPr>
        <p:spPr>
          <a:xfrm xmlns:a="http://schemas.openxmlformats.org/drawingml/2006/main">
            <a:off x="876300" y="401955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B65045"/>
                </a:solidFill>
                <a:latin typeface="Arial"/>
                <a:ea typeface="Arial"/>
                <a:cs typeface="Arial"/>
              </a:defRPr>
            </a:pPr>
            <a:r>
              <a:rPr sz="2700" b="1">
                <a:solidFill>
                  <a:srgbClr val="B65045"/>
                </a:solidFill>
                <a:latin typeface="Arial"/>
                <a:ea typeface="Arial"/>
                <a:cs typeface="Arial"/>
              </a:rPr>
              <a:t>2.9608</a:t>
            </a:r>
          </a:p>
        </p:txBody>
      </p:sp>
      <p:sp>
        <p:nvSpPr>
          <p:cNvPr id="25" name="">
            <a:extLst xmlns:a="http://schemas.openxmlformats.org/drawingml/2006/main">
              <a:ext uri="{FF2B5EF4-FFF2-40B4-BE49-F238E27FC236}">
                <a16:creationId xmlns:a16="http://schemas.microsoft.com/office/drawing/2014/main" id="{267EADA6-E168-46F4-9E76-363999B86139}"/>
              </a:ext>
            </a:extLst>
          </p:cNvPr>
          <p:cNvSpPr>
            <a:spLocks xmlns:a="http://schemas.openxmlformats.org/drawingml/2006/main" noGrp="1"/>
          </p:cNvSpPr>
          <p:nvPr/>
        </p:nvSpPr>
        <p:spPr>
          <a:xfrm xmlns:a="http://schemas.openxmlformats.org/drawingml/2006/main">
            <a:off x="876300" y="44958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D6B72"/>
                </a:solidFill>
                <a:latin typeface="Arial"/>
                <a:ea typeface="Arial"/>
                <a:cs typeface="Arial"/>
              </a:defRPr>
            </a:pPr>
            <a:r>
              <a:rPr sz="1050" b="0">
                <a:solidFill>
                  <a:srgbClr val="5D6B72"/>
                </a:solidFill>
                <a:latin typeface="Arial"/>
                <a:ea typeface="Arial"/>
                <a:cs typeface="Arial"/>
              </a:rPr>
              <a:t>Area PSI detected</a:t>
            </a:r>
          </a:p>
        </p:txBody>
      </p:sp>
      <p:sp>
        <p:nvSpPr>
          <p:cNvPr id="26" name="">
            <a:extLst xmlns:a="http://schemas.openxmlformats.org/drawingml/2006/main">
              <a:ext uri="{FF2B5EF4-FFF2-40B4-BE49-F238E27FC236}">
                <a16:creationId xmlns:a16="http://schemas.microsoft.com/office/drawing/2014/main" id="{23D0B372-8F81-4A65-973F-FE07A8DC0A2B}"/>
              </a:ext>
            </a:extLst>
          </p:cNvPr>
          <p:cNvSpPr>
            <a:spLocks xmlns:a="http://schemas.openxmlformats.org/drawingml/2006/main" noGrp="1"/>
          </p:cNvSpPr>
          <p:nvPr/>
        </p:nvSpPr>
        <p:spPr>
          <a:xfrm xmlns:a="http://schemas.openxmlformats.org/drawingml/2006/main">
            <a:off x="3333750" y="4019550"/>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E38B35"/>
                </a:solidFill>
                <a:latin typeface="Arial"/>
                <a:ea typeface="Arial"/>
                <a:cs typeface="Arial"/>
              </a:defRPr>
            </a:pPr>
            <a:r>
              <a:rPr sz="2700" b="1">
                <a:solidFill>
                  <a:srgbClr val="E38B35"/>
                </a:solidFill>
                <a:latin typeface="Arial"/>
                <a:ea typeface="Arial"/>
                <a:cs typeface="Arial"/>
              </a:rPr>
              <a:t>0.20</a:t>
            </a:r>
          </a:p>
        </p:txBody>
      </p:sp>
      <p:sp>
        <p:nvSpPr>
          <p:cNvPr id="27" name="">
            <a:extLst xmlns:a="http://schemas.openxmlformats.org/drawingml/2006/main">
              <a:ext uri="{FF2B5EF4-FFF2-40B4-BE49-F238E27FC236}">
                <a16:creationId xmlns:a16="http://schemas.microsoft.com/office/drawing/2014/main" id="{2EA0339B-3FB8-4B18-BB87-708BA59A5C9B}"/>
              </a:ext>
            </a:extLst>
          </p:cNvPr>
          <p:cNvSpPr>
            <a:spLocks xmlns:a="http://schemas.openxmlformats.org/drawingml/2006/main" noGrp="1"/>
          </p:cNvSpPr>
          <p:nvPr/>
        </p:nvSpPr>
        <p:spPr>
          <a:xfrm xmlns:a="http://schemas.openxmlformats.org/drawingml/2006/main">
            <a:off x="3333750" y="4495800"/>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D6B72"/>
                </a:solidFill>
                <a:latin typeface="Arial"/>
                <a:ea typeface="Arial"/>
                <a:cs typeface="Arial"/>
              </a:defRPr>
            </a:pPr>
            <a:r>
              <a:rPr sz="1050" b="0">
                <a:solidFill>
                  <a:srgbClr val="5D6B72"/>
                </a:solidFill>
                <a:latin typeface="Arial"/>
                <a:ea typeface="Arial"/>
                <a:cs typeface="Arial"/>
              </a:rPr>
              <a:t>Configured threshold</a:t>
            </a:r>
          </a:p>
        </p:txBody>
      </p:sp>
      <p:sp>
        <p:nvSpPr>
          <p:cNvPr id="28" name="">
            <a:extLst xmlns:a="http://schemas.openxmlformats.org/drawingml/2006/main">
              <a:ext uri="{FF2B5EF4-FFF2-40B4-BE49-F238E27FC236}">
                <a16:creationId xmlns:a16="http://schemas.microsoft.com/office/drawing/2014/main" id="{9E0C69F3-CE12-48E0-A843-90523676E5E4}"/>
              </a:ext>
            </a:extLst>
          </p:cNvPr>
          <p:cNvSpPr>
            <a:spLocks xmlns:a="http://schemas.openxmlformats.org/drawingml/2006/main" noGrp="1"/>
          </p:cNvSpPr>
          <p:nvPr/>
        </p:nvSpPr>
        <p:spPr>
          <a:xfrm xmlns:a="http://schemas.openxmlformats.org/drawingml/2006/main">
            <a:off x="5905500" y="3695700"/>
            <a:ext cx="0" cy="146685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29" name="">
            <a:extLst xmlns:a="http://schemas.openxmlformats.org/drawingml/2006/main">
              <a:ext uri="{FF2B5EF4-FFF2-40B4-BE49-F238E27FC236}">
                <a16:creationId xmlns:a16="http://schemas.microsoft.com/office/drawing/2014/main" id="{854C56BC-CB11-4A02-B53D-51046CC38D8B}"/>
              </a:ext>
            </a:extLst>
          </p:cNvPr>
          <p:cNvSpPr>
            <a:spLocks xmlns:a="http://schemas.openxmlformats.org/drawingml/2006/main" noGrp="1"/>
          </p:cNvSpPr>
          <p:nvPr/>
        </p:nvSpPr>
        <p:spPr>
          <a:xfrm xmlns:a="http://schemas.openxmlformats.org/drawingml/2006/main">
            <a:off x="6305550" y="3600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C7A78"/>
                </a:solidFill>
                <a:latin typeface="Arial"/>
                <a:ea typeface="Arial"/>
                <a:cs typeface="Arial"/>
              </a:defRPr>
            </a:pPr>
            <a:r>
              <a:rPr sz="1275" b="1">
                <a:solidFill>
                  <a:srgbClr val="2C7A78"/>
                </a:solidFill>
                <a:latin typeface="Arial"/>
                <a:ea typeface="Arial"/>
                <a:cs typeface="Arial"/>
              </a:rPr>
              <a:t>Candidate comparison</a:t>
            </a:r>
          </a:p>
        </p:txBody>
      </p:sp>
      <p:sp>
        <p:nvSpPr>
          <p:cNvPr id="30" name="">
            <a:extLst xmlns:a="http://schemas.openxmlformats.org/drawingml/2006/main">
              <a:ext uri="{FF2B5EF4-FFF2-40B4-BE49-F238E27FC236}">
                <a16:creationId xmlns:a16="http://schemas.microsoft.com/office/drawing/2014/main" id="{9F85D2CF-D35D-4758-A265-4A2516CD695A}"/>
              </a:ext>
            </a:extLst>
          </p:cNvPr>
          <p:cNvSpPr>
            <a:spLocks xmlns:a="http://schemas.openxmlformats.org/drawingml/2006/main" noGrp="1"/>
          </p:cNvSpPr>
          <p:nvPr/>
        </p:nvSpPr>
        <p:spPr>
          <a:xfrm xmlns:a="http://schemas.openxmlformats.org/drawingml/2006/main">
            <a:off x="6305550" y="3962400"/>
            <a:ext cx="47053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2212B"/>
                </a:solidFill>
                <a:latin typeface="Arial"/>
                <a:ea typeface="Arial"/>
                <a:cs typeface="Arial"/>
              </a:defRPr>
            </a:pPr>
            <a:r>
              <a:rPr sz="1500" b="0">
                <a:solidFill>
                  <a:srgbClr val="12212B"/>
                </a:solidFill>
                <a:latin typeface="Arial"/>
                <a:ea typeface="Arial"/>
                <a:cs typeface="Arial"/>
              </a:rPr>
              <a:t>Candidate MAE      ₹1.99M</a:t>
            </a:r>
          </a:p>
          <a:p xmlns:a="http://schemas.openxmlformats.org/drawingml/2006/main">
            <a:pPr algn="l">
              <a:defRPr sz="1500" b="0">
                <a:solidFill>
                  <a:srgbClr val="12212B"/>
                </a:solidFill>
                <a:latin typeface="Arial"/>
                <a:ea typeface="Arial"/>
                <a:cs typeface="Arial"/>
              </a:defRPr>
            </a:pPr>
            <a:r>
              <a:rPr sz="1500" b="0">
                <a:solidFill>
                  <a:srgbClr val="12212B"/>
                </a:solidFill>
                <a:latin typeface="Arial"/>
                <a:ea typeface="Arial"/>
                <a:cs typeface="Arial"/>
              </a:rPr>
              <a:t>Current MAE          ₹2.33M</a:t>
            </a:r>
          </a:p>
          <a:p xmlns:a="http://schemas.openxmlformats.org/drawingml/2006/main">
            <a:pPr algn="l">
              <a:defRPr sz="1500" b="0">
                <a:solidFill>
                  <a:srgbClr val="12212B"/>
                </a:solidFill>
                <a:latin typeface="Arial"/>
                <a:ea typeface="Arial"/>
                <a:cs typeface="Arial"/>
              </a:defRPr>
            </a:pPr>
            <a:r>
              <a:rPr sz="1500" b="0">
                <a:solidFill>
                  <a:srgbClr val="12212B"/>
                </a:solidFill>
                <a:latin typeface="Arial"/>
                <a:ea typeface="Arial"/>
                <a:cs typeface="Arial"/>
              </a:rPr>
              <a:t>Action                     promote, then rollback</a:t>
            </a:r>
          </a:p>
        </p:txBody>
      </p:sp>
      <p:sp>
        <p:nvSpPr>
          <p:cNvPr id="31" name="">
            <a:extLst xmlns:a="http://schemas.openxmlformats.org/drawingml/2006/main">
              <a:ext uri="{FF2B5EF4-FFF2-40B4-BE49-F238E27FC236}">
                <a16:creationId xmlns:a16="http://schemas.microsoft.com/office/drawing/2014/main" id="{742B13D4-DF2C-4448-9FAD-AA446A829A73}"/>
              </a:ext>
            </a:extLst>
          </p:cNvPr>
          <p:cNvSpPr>
            <a:spLocks xmlns:a="http://schemas.openxmlformats.org/drawingml/2006/main" noGrp="1"/>
          </p:cNvSpPr>
          <p:nvPr/>
        </p:nvSpPr>
        <p:spPr>
          <a:xfrm xmlns:a="http://schemas.openxmlformats.org/drawingml/2006/main">
            <a:off x="876300" y="516255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D6B72"/>
                </a:solidFill>
                <a:latin typeface="Arial"/>
                <a:ea typeface="Arial"/>
                <a:cs typeface="Arial"/>
              </a:defRPr>
            </a:pPr>
            <a:r>
              <a:rPr sz="1125" b="1">
                <a:solidFill>
                  <a:srgbClr val="5D6B72"/>
                </a:solidFill>
                <a:latin typeface="Arial"/>
                <a:ea typeface="Arial"/>
                <a:cs typeface="Arial"/>
              </a:rPr>
              <a:t>Rollback restored version 5a25bb4c58f9 without interrupting the production API.</a:t>
            </a:r>
          </a:p>
        </p:txBody>
      </p:sp>
      <p:sp>
        <p:nvSpPr>
          <p:cNvPr id="32" name="">
            <a:extLst xmlns:a="http://schemas.openxmlformats.org/drawingml/2006/main">
              <a:ext uri="{FF2B5EF4-FFF2-40B4-BE49-F238E27FC236}">
                <a16:creationId xmlns:a16="http://schemas.microsoft.com/office/drawing/2014/main" id="{C76BDD35-ADEE-4D33-99C7-EB5B7A3C268E}"/>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33" name="">
            <a:extLst xmlns:a="http://schemas.openxmlformats.org/drawingml/2006/main">
              <a:ext uri="{FF2B5EF4-FFF2-40B4-BE49-F238E27FC236}">
                <a16:creationId xmlns:a16="http://schemas.microsoft.com/office/drawing/2014/main" id="{38F38C5E-A681-45DB-8F34-1CE2C6208F23}"/>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07</a:t>
            </a:r>
          </a:p>
        </p:txBody>
      </p:sp>
    </p:spTree>
    <p:extLst>
      <p:ext uri="{BB962C8B-B14F-4D97-AF65-F5344CB8AC3E}">
        <p14:creationId xmlns:p14="http://schemas.microsoft.com/office/powerpoint/2010/main" val="333150095"/>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3BC78497-8DD3-430D-BBF0-AA4D462E5DBC}"/>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07  REVIEW DEMONSTRATION</a:t>
            </a:r>
          </a:p>
        </p:txBody>
      </p:sp>
      <p:sp>
        <p:nvSpPr>
          <p:cNvPr id="2" name="">
            <a:extLst xmlns:a="http://schemas.openxmlformats.org/drawingml/2006/main">
              <a:ext uri="{FF2B5EF4-FFF2-40B4-BE49-F238E27FC236}">
                <a16:creationId xmlns:a16="http://schemas.microsoft.com/office/drawing/2014/main" id="{D59D1615-5562-412D-B0C1-77753381DDDD}"/>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A five-minute flow shows the complete system</a:t>
            </a:r>
          </a:p>
        </p:txBody>
      </p:sp>
      <p:sp>
        <p:nvSpPr>
          <p:cNvPr id="3" name="">
            <a:extLst xmlns:a="http://schemas.openxmlformats.org/drawingml/2006/main">
              <a:ext uri="{FF2B5EF4-FFF2-40B4-BE49-F238E27FC236}">
                <a16:creationId xmlns:a16="http://schemas.microsoft.com/office/drawing/2014/main" id="{23D0C8CA-EF39-4256-92B0-819396B10A8B}"/>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Keep the live demo focused on one project and one decision path.</a:t>
            </a:r>
          </a:p>
        </p:txBody>
      </p:sp>
      <p:sp>
        <p:nvSpPr>
          <p:cNvPr id="4" name="">
            <a:extLst xmlns:a="http://schemas.openxmlformats.org/drawingml/2006/main">
              <a:ext uri="{FF2B5EF4-FFF2-40B4-BE49-F238E27FC236}">
                <a16:creationId xmlns:a16="http://schemas.microsoft.com/office/drawing/2014/main" id="{FE213BA8-ADEE-451F-87AE-965E3A2BEA87}"/>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16E63643-4F76-4EA8-90A2-E5C6B8289716}"/>
              </a:ext>
            </a:extLst>
          </p:cNvPr>
          <p:cNvSpPr>
            <a:spLocks xmlns:a="http://schemas.openxmlformats.org/drawingml/2006/main" noGrp="1"/>
          </p:cNvSpPr>
          <p:nvPr/>
        </p:nvSpPr>
        <p:spPr>
          <a:xfrm xmlns:a="http://schemas.openxmlformats.org/drawingml/2006/main">
            <a:off x="723900" y="1809750"/>
            <a:ext cx="514350" cy="514350"/>
          </a:xfrm>
          <a:prstGeom xmlns:a="http://schemas.openxmlformats.org/drawingml/2006/main" prst="roundRect">
            <a:avLst>
              <a:gd name="adj" fmla="val 50000"/>
            </a:avLst>
          </a:prstGeom>
          <a:solidFill xmlns:a="http://schemas.openxmlformats.org/drawingml/2006/main">
            <a:srgbClr val="2C7A7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F16A9B7-C732-488B-B7A8-EC88588C537F}"/>
              </a:ext>
            </a:extLst>
          </p:cNvPr>
          <p:cNvSpPr>
            <a:spLocks xmlns:a="http://schemas.openxmlformats.org/drawingml/2006/main" noGrp="1"/>
          </p:cNvSpPr>
          <p:nvPr/>
        </p:nvSpPr>
        <p:spPr>
          <a:xfrm xmlns:a="http://schemas.openxmlformats.org/drawingml/2006/main">
            <a:off x="723900" y="188595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ECB79450-AAF8-4CDD-B804-FD0837673FB8}"/>
              </a:ext>
            </a:extLst>
          </p:cNvPr>
          <p:cNvSpPr>
            <a:spLocks xmlns:a="http://schemas.openxmlformats.org/drawingml/2006/main" noGrp="1"/>
          </p:cNvSpPr>
          <p:nvPr/>
        </p:nvSpPr>
        <p:spPr>
          <a:xfrm xmlns:a="http://schemas.openxmlformats.org/drawingml/2006/main">
            <a:off x="1524000" y="17907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2212B"/>
                </a:solidFill>
                <a:latin typeface="Arial"/>
                <a:ea typeface="Arial"/>
                <a:cs typeface="Arial"/>
              </a:defRPr>
            </a:pPr>
            <a:r>
              <a:rPr sz="1575" b="1">
                <a:solidFill>
                  <a:srgbClr val="12212B"/>
                </a:solidFill>
                <a:latin typeface="Arial"/>
                <a:ea typeface="Arial"/>
                <a:cs typeface="Arial"/>
              </a:rPr>
              <a:t>Open a project</a:t>
            </a:r>
          </a:p>
        </p:txBody>
      </p:sp>
      <p:sp>
        <p:nvSpPr>
          <p:cNvPr id="8" name="">
            <a:extLst xmlns:a="http://schemas.openxmlformats.org/drawingml/2006/main">
              <a:ext uri="{FF2B5EF4-FFF2-40B4-BE49-F238E27FC236}">
                <a16:creationId xmlns:a16="http://schemas.microsoft.com/office/drawing/2014/main" id="{24CFDEF7-DEA5-4C1B-8D59-9303371FAE5F}"/>
              </a:ext>
            </a:extLst>
          </p:cNvPr>
          <p:cNvSpPr>
            <a:spLocks xmlns:a="http://schemas.openxmlformats.org/drawingml/2006/main" noGrp="1"/>
          </p:cNvSpPr>
          <p:nvPr/>
        </p:nvSpPr>
        <p:spPr>
          <a:xfrm xmlns:a="http://schemas.openxmlformats.org/drawingml/2006/main">
            <a:off x="1524000" y="209550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D6B72"/>
                </a:solidFill>
                <a:latin typeface="Arial"/>
                <a:ea typeface="Arial"/>
                <a:cs typeface="Arial"/>
              </a:defRPr>
            </a:pPr>
            <a:r>
              <a:rPr sz="1200" b="0">
                <a:solidFill>
                  <a:srgbClr val="5D6B72"/>
                </a:solidFill>
                <a:latin typeface="Arial"/>
                <a:ea typeface="Arial"/>
                <a:cs typeface="Arial"/>
              </a:rPr>
              <a:t>Show multiple projects and persistent uploaded files.</a:t>
            </a:r>
          </a:p>
        </p:txBody>
      </p:sp>
      <p:sp>
        <p:nvSpPr>
          <p:cNvPr id="9" name="">
            <a:extLst xmlns:a="http://schemas.openxmlformats.org/drawingml/2006/main">
              <a:ext uri="{FF2B5EF4-FFF2-40B4-BE49-F238E27FC236}">
                <a16:creationId xmlns:a16="http://schemas.microsoft.com/office/drawing/2014/main" id="{2F38A0A9-95FD-4FED-9FB5-7736358F2FE9}"/>
              </a:ext>
            </a:extLst>
          </p:cNvPr>
          <p:cNvSpPr>
            <a:spLocks xmlns:a="http://schemas.openxmlformats.org/drawingml/2006/main" noGrp="1"/>
          </p:cNvSpPr>
          <p:nvPr/>
        </p:nvSpPr>
        <p:spPr>
          <a:xfrm xmlns:a="http://schemas.openxmlformats.org/drawingml/2006/main">
            <a:off x="971550" y="2324100"/>
            <a:ext cx="0" cy="34290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10" name="">
            <a:extLst xmlns:a="http://schemas.openxmlformats.org/drawingml/2006/main">
              <a:ext uri="{FF2B5EF4-FFF2-40B4-BE49-F238E27FC236}">
                <a16:creationId xmlns:a16="http://schemas.microsoft.com/office/drawing/2014/main" id="{D4D8006A-C0C6-431F-BF87-2763ED346ABB}"/>
              </a:ext>
            </a:extLst>
          </p:cNvPr>
          <p:cNvSpPr>
            <a:spLocks xmlns:a="http://schemas.openxmlformats.org/drawingml/2006/main" noGrp="1"/>
          </p:cNvSpPr>
          <p:nvPr/>
        </p:nvSpPr>
        <p:spPr>
          <a:xfrm xmlns:a="http://schemas.openxmlformats.org/drawingml/2006/main">
            <a:off x="723900" y="2667000"/>
            <a:ext cx="514350" cy="514350"/>
          </a:xfrm>
          <a:prstGeom xmlns:a="http://schemas.openxmlformats.org/drawingml/2006/main" prst="roundRect">
            <a:avLst>
              <a:gd name="adj" fmla="val 50000"/>
            </a:avLst>
          </a:prstGeom>
          <a:solidFill xmlns:a="http://schemas.openxmlformats.org/drawingml/2006/main">
            <a:srgbClr val="2C7A7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0A9FB20-9310-4F1B-AEE0-73346E9A581F}"/>
              </a:ext>
            </a:extLst>
          </p:cNvPr>
          <p:cNvSpPr>
            <a:spLocks xmlns:a="http://schemas.openxmlformats.org/drawingml/2006/main" noGrp="1"/>
          </p:cNvSpPr>
          <p:nvPr/>
        </p:nvSpPr>
        <p:spPr>
          <a:xfrm xmlns:a="http://schemas.openxmlformats.org/drawingml/2006/main">
            <a:off x="723900" y="27432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212E965A-1F09-4C5C-9325-DE934B9722C2}"/>
              </a:ext>
            </a:extLst>
          </p:cNvPr>
          <p:cNvSpPr>
            <a:spLocks xmlns:a="http://schemas.openxmlformats.org/drawingml/2006/main" noGrp="1"/>
          </p:cNvSpPr>
          <p:nvPr/>
        </p:nvSpPr>
        <p:spPr>
          <a:xfrm xmlns:a="http://schemas.openxmlformats.org/drawingml/2006/main">
            <a:off x="1524000" y="264795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2212B"/>
                </a:solidFill>
                <a:latin typeface="Arial"/>
                <a:ea typeface="Arial"/>
                <a:cs typeface="Arial"/>
              </a:defRPr>
            </a:pPr>
            <a:r>
              <a:rPr sz="1575" b="1">
                <a:solidFill>
                  <a:srgbClr val="12212B"/>
                </a:solidFill>
                <a:latin typeface="Arial"/>
                <a:ea typeface="Arial"/>
                <a:cs typeface="Arial"/>
              </a:rPr>
              <a:t>Ask a document question</a:t>
            </a:r>
          </a:p>
        </p:txBody>
      </p:sp>
      <p:sp>
        <p:nvSpPr>
          <p:cNvPr id="13" name="">
            <a:extLst xmlns:a="http://schemas.openxmlformats.org/drawingml/2006/main">
              <a:ext uri="{FF2B5EF4-FFF2-40B4-BE49-F238E27FC236}">
                <a16:creationId xmlns:a16="http://schemas.microsoft.com/office/drawing/2014/main" id="{BA58142B-C17D-4E2C-A8AE-6BED9BCDDB11}"/>
              </a:ext>
            </a:extLst>
          </p:cNvPr>
          <p:cNvSpPr>
            <a:spLocks xmlns:a="http://schemas.openxmlformats.org/drawingml/2006/main" noGrp="1"/>
          </p:cNvSpPr>
          <p:nvPr/>
        </p:nvSpPr>
        <p:spPr>
          <a:xfrm xmlns:a="http://schemas.openxmlformats.org/drawingml/2006/main">
            <a:off x="1524000" y="29527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D6B72"/>
                </a:solidFill>
                <a:latin typeface="Arial"/>
                <a:ea typeface="Arial"/>
                <a:cs typeface="Arial"/>
              </a:defRPr>
            </a:pPr>
            <a:r>
              <a:rPr sz="1200" b="0">
                <a:solidFill>
                  <a:srgbClr val="5D6B72"/>
                </a:solidFill>
                <a:latin typeface="Arial"/>
                <a:ea typeface="Arial"/>
                <a:cs typeface="Arial"/>
              </a:rPr>
              <a:t>Point to the returned source references.</a:t>
            </a:r>
          </a:p>
        </p:txBody>
      </p:sp>
      <p:sp>
        <p:nvSpPr>
          <p:cNvPr id="14" name="">
            <a:extLst xmlns:a="http://schemas.openxmlformats.org/drawingml/2006/main">
              <a:ext uri="{FF2B5EF4-FFF2-40B4-BE49-F238E27FC236}">
                <a16:creationId xmlns:a16="http://schemas.microsoft.com/office/drawing/2014/main" id="{61A94CAD-ABA2-4909-BFC8-EF7C39E9BF78}"/>
              </a:ext>
            </a:extLst>
          </p:cNvPr>
          <p:cNvSpPr>
            <a:spLocks xmlns:a="http://schemas.openxmlformats.org/drawingml/2006/main" noGrp="1"/>
          </p:cNvSpPr>
          <p:nvPr/>
        </p:nvSpPr>
        <p:spPr>
          <a:xfrm xmlns:a="http://schemas.openxmlformats.org/drawingml/2006/main">
            <a:off x="971550" y="3181350"/>
            <a:ext cx="0" cy="34290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15" name="">
            <a:extLst xmlns:a="http://schemas.openxmlformats.org/drawingml/2006/main">
              <a:ext uri="{FF2B5EF4-FFF2-40B4-BE49-F238E27FC236}">
                <a16:creationId xmlns:a16="http://schemas.microsoft.com/office/drawing/2014/main" id="{F9567F57-D01F-4EAF-9514-101B289A787B}"/>
              </a:ext>
            </a:extLst>
          </p:cNvPr>
          <p:cNvSpPr>
            <a:spLocks xmlns:a="http://schemas.openxmlformats.org/drawingml/2006/main" noGrp="1"/>
          </p:cNvSpPr>
          <p:nvPr/>
        </p:nvSpPr>
        <p:spPr>
          <a:xfrm xmlns:a="http://schemas.openxmlformats.org/drawingml/2006/main">
            <a:off x="723900" y="3524250"/>
            <a:ext cx="514350" cy="514350"/>
          </a:xfrm>
          <a:prstGeom xmlns:a="http://schemas.openxmlformats.org/drawingml/2006/main" prst="roundRect">
            <a:avLst>
              <a:gd name="adj" fmla="val 50000"/>
            </a:avLst>
          </a:prstGeom>
          <a:solidFill xmlns:a="http://schemas.openxmlformats.org/drawingml/2006/main">
            <a:srgbClr val="2C7A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0866BC2-BF79-4F42-86A3-6BEB5D69A959}"/>
              </a:ext>
            </a:extLst>
          </p:cNvPr>
          <p:cNvSpPr>
            <a:spLocks xmlns:a="http://schemas.openxmlformats.org/drawingml/2006/main" noGrp="1"/>
          </p:cNvSpPr>
          <p:nvPr/>
        </p:nvSpPr>
        <p:spPr>
          <a:xfrm xmlns:a="http://schemas.openxmlformats.org/drawingml/2006/main">
            <a:off x="723900" y="360045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946A36C2-77FD-4DB3-B443-4FFE2FCCD30C}"/>
              </a:ext>
            </a:extLst>
          </p:cNvPr>
          <p:cNvSpPr>
            <a:spLocks xmlns:a="http://schemas.openxmlformats.org/drawingml/2006/main" noGrp="1"/>
          </p:cNvSpPr>
          <p:nvPr/>
        </p:nvSpPr>
        <p:spPr>
          <a:xfrm xmlns:a="http://schemas.openxmlformats.org/drawingml/2006/main">
            <a:off x="1524000" y="35052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2212B"/>
                </a:solidFill>
                <a:latin typeface="Arial"/>
                <a:ea typeface="Arial"/>
                <a:cs typeface="Arial"/>
              </a:defRPr>
            </a:pPr>
            <a:r>
              <a:rPr sz="1575" b="1">
                <a:solidFill>
                  <a:srgbClr val="12212B"/>
                </a:solidFill>
                <a:latin typeface="Arial"/>
                <a:ea typeface="Arial"/>
                <a:cs typeface="Arial"/>
              </a:rPr>
              <a:t>Request a cost estimate</a:t>
            </a:r>
          </a:p>
        </p:txBody>
      </p:sp>
      <p:sp>
        <p:nvSpPr>
          <p:cNvPr id="18" name="">
            <a:extLst xmlns:a="http://schemas.openxmlformats.org/drawingml/2006/main">
              <a:ext uri="{FF2B5EF4-FFF2-40B4-BE49-F238E27FC236}">
                <a16:creationId xmlns:a16="http://schemas.microsoft.com/office/drawing/2014/main" id="{2A0C0B1D-915E-49CB-BB6F-F906DA785862}"/>
              </a:ext>
            </a:extLst>
          </p:cNvPr>
          <p:cNvSpPr>
            <a:spLocks xmlns:a="http://schemas.openxmlformats.org/drawingml/2006/main" noGrp="1"/>
          </p:cNvSpPr>
          <p:nvPr/>
        </p:nvSpPr>
        <p:spPr>
          <a:xfrm xmlns:a="http://schemas.openxmlformats.org/drawingml/2006/main">
            <a:off x="1524000" y="381000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D6B72"/>
                </a:solidFill>
                <a:latin typeface="Arial"/>
                <a:ea typeface="Arial"/>
                <a:cs typeface="Arial"/>
              </a:defRPr>
            </a:pPr>
            <a:r>
              <a:rPr sz="1200" b="0">
                <a:solidFill>
                  <a:srgbClr val="5D6B72"/>
                </a:solidFill>
                <a:latin typeface="Arial"/>
                <a:ea typeface="Arial"/>
                <a:cs typeface="Arial"/>
              </a:rPr>
              <a:t>Explain the five model inputs and saved result.</a:t>
            </a:r>
          </a:p>
        </p:txBody>
      </p:sp>
      <p:sp>
        <p:nvSpPr>
          <p:cNvPr id="19" name="">
            <a:extLst xmlns:a="http://schemas.openxmlformats.org/drawingml/2006/main">
              <a:ext uri="{FF2B5EF4-FFF2-40B4-BE49-F238E27FC236}">
                <a16:creationId xmlns:a16="http://schemas.microsoft.com/office/drawing/2014/main" id="{51F293F5-C5E0-47EB-B8F2-C84812B4A5F0}"/>
              </a:ext>
            </a:extLst>
          </p:cNvPr>
          <p:cNvSpPr>
            <a:spLocks xmlns:a="http://schemas.openxmlformats.org/drawingml/2006/main" noGrp="1"/>
          </p:cNvSpPr>
          <p:nvPr/>
        </p:nvSpPr>
        <p:spPr>
          <a:xfrm xmlns:a="http://schemas.openxmlformats.org/drawingml/2006/main">
            <a:off x="971550" y="4038600"/>
            <a:ext cx="0" cy="34290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20" name="">
            <a:extLst xmlns:a="http://schemas.openxmlformats.org/drawingml/2006/main">
              <a:ext uri="{FF2B5EF4-FFF2-40B4-BE49-F238E27FC236}">
                <a16:creationId xmlns:a16="http://schemas.microsoft.com/office/drawing/2014/main" id="{5CAFBEC1-077F-4402-AD4D-3E7C71A9BEE7}"/>
              </a:ext>
            </a:extLst>
          </p:cNvPr>
          <p:cNvSpPr>
            <a:spLocks xmlns:a="http://schemas.openxmlformats.org/drawingml/2006/main" noGrp="1"/>
          </p:cNvSpPr>
          <p:nvPr/>
        </p:nvSpPr>
        <p:spPr>
          <a:xfrm xmlns:a="http://schemas.openxmlformats.org/drawingml/2006/main">
            <a:off x="723900" y="4381500"/>
            <a:ext cx="514350" cy="514350"/>
          </a:xfrm>
          <a:prstGeom xmlns:a="http://schemas.openxmlformats.org/drawingml/2006/main" prst="roundRect">
            <a:avLst>
              <a:gd name="adj" fmla="val 50000"/>
            </a:avLst>
          </a:prstGeom>
          <a:solidFill xmlns:a="http://schemas.openxmlformats.org/drawingml/2006/main">
            <a:srgbClr val="2C7A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B833108-DED6-42C8-81E6-8F34B6F41C56}"/>
              </a:ext>
            </a:extLst>
          </p:cNvPr>
          <p:cNvSpPr>
            <a:spLocks xmlns:a="http://schemas.openxmlformats.org/drawingml/2006/main" noGrp="1"/>
          </p:cNvSpPr>
          <p:nvPr/>
        </p:nvSpPr>
        <p:spPr>
          <a:xfrm xmlns:a="http://schemas.openxmlformats.org/drawingml/2006/main">
            <a:off x="723900" y="445770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4C60D798-CF77-4C52-9B20-E050D716638C}"/>
              </a:ext>
            </a:extLst>
          </p:cNvPr>
          <p:cNvSpPr>
            <a:spLocks xmlns:a="http://schemas.openxmlformats.org/drawingml/2006/main" noGrp="1"/>
          </p:cNvSpPr>
          <p:nvPr/>
        </p:nvSpPr>
        <p:spPr>
          <a:xfrm xmlns:a="http://schemas.openxmlformats.org/drawingml/2006/main">
            <a:off x="1524000" y="436245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2212B"/>
                </a:solidFill>
                <a:latin typeface="Arial"/>
                <a:ea typeface="Arial"/>
                <a:cs typeface="Arial"/>
              </a:defRPr>
            </a:pPr>
            <a:r>
              <a:rPr sz="1575" b="1">
                <a:solidFill>
                  <a:srgbClr val="12212B"/>
                </a:solidFill>
                <a:latin typeface="Arial"/>
                <a:ea typeface="Arial"/>
                <a:cs typeface="Arial"/>
              </a:rPr>
              <a:t>Open monitoring</a:t>
            </a:r>
          </a:p>
        </p:txBody>
      </p:sp>
      <p:sp>
        <p:nvSpPr>
          <p:cNvPr id="23" name="">
            <a:extLst xmlns:a="http://schemas.openxmlformats.org/drawingml/2006/main">
              <a:ext uri="{FF2B5EF4-FFF2-40B4-BE49-F238E27FC236}">
                <a16:creationId xmlns:a16="http://schemas.microsoft.com/office/drawing/2014/main" id="{704C12FF-40C9-4F94-8E1C-2E2F67D4F76B}"/>
              </a:ext>
            </a:extLst>
          </p:cNvPr>
          <p:cNvSpPr>
            <a:spLocks xmlns:a="http://schemas.openxmlformats.org/drawingml/2006/main" noGrp="1"/>
          </p:cNvSpPr>
          <p:nvPr/>
        </p:nvSpPr>
        <p:spPr>
          <a:xfrm xmlns:a="http://schemas.openxmlformats.org/drawingml/2006/main">
            <a:off x="1524000" y="46672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D6B72"/>
                </a:solidFill>
                <a:latin typeface="Arial"/>
                <a:ea typeface="Arial"/>
                <a:cs typeface="Arial"/>
              </a:defRPr>
            </a:pPr>
            <a:r>
              <a:rPr sz="1200" b="0">
                <a:solidFill>
                  <a:srgbClr val="5D6B72"/>
                </a:solidFill>
                <a:latin typeface="Arial"/>
                <a:ea typeface="Arial"/>
                <a:cs typeface="Arial"/>
              </a:rPr>
              <a:t>Show requests, latency, fallbacks and drift status.</a:t>
            </a:r>
          </a:p>
        </p:txBody>
      </p:sp>
      <p:sp>
        <p:nvSpPr>
          <p:cNvPr id="24" name="">
            <a:extLst xmlns:a="http://schemas.openxmlformats.org/drawingml/2006/main">
              <a:ext uri="{FF2B5EF4-FFF2-40B4-BE49-F238E27FC236}">
                <a16:creationId xmlns:a16="http://schemas.microsoft.com/office/drawing/2014/main" id="{CD2A8B28-8FF3-4BD9-B2C3-184B57F564D7}"/>
              </a:ext>
            </a:extLst>
          </p:cNvPr>
          <p:cNvSpPr>
            <a:spLocks xmlns:a="http://schemas.openxmlformats.org/drawingml/2006/main" noGrp="1"/>
          </p:cNvSpPr>
          <p:nvPr/>
        </p:nvSpPr>
        <p:spPr>
          <a:xfrm xmlns:a="http://schemas.openxmlformats.org/drawingml/2006/main">
            <a:off x="971550" y="4895850"/>
            <a:ext cx="0" cy="34290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25" name="">
            <a:extLst xmlns:a="http://schemas.openxmlformats.org/drawingml/2006/main">
              <a:ext uri="{FF2B5EF4-FFF2-40B4-BE49-F238E27FC236}">
                <a16:creationId xmlns:a16="http://schemas.microsoft.com/office/drawing/2014/main" id="{D7C668E3-CE13-487B-8846-771AD436038D}"/>
              </a:ext>
            </a:extLst>
          </p:cNvPr>
          <p:cNvSpPr>
            <a:spLocks xmlns:a="http://schemas.openxmlformats.org/drawingml/2006/main" noGrp="1"/>
          </p:cNvSpPr>
          <p:nvPr/>
        </p:nvSpPr>
        <p:spPr>
          <a:xfrm xmlns:a="http://schemas.openxmlformats.org/drawingml/2006/main">
            <a:off x="723900" y="5238750"/>
            <a:ext cx="514350" cy="514350"/>
          </a:xfrm>
          <a:prstGeom xmlns:a="http://schemas.openxmlformats.org/drawingml/2006/main" prst="roundRect">
            <a:avLst>
              <a:gd name="adj" fmla="val 50000"/>
            </a:avLst>
          </a:prstGeom>
          <a:solidFill xmlns:a="http://schemas.openxmlformats.org/drawingml/2006/main">
            <a:srgbClr val="E38B3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62386CC-8A00-477E-8C2B-6062B21CAB37}"/>
              </a:ext>
            </a:extLst>
          </p:cNvPr>
          <p:cNvSpPr>
            <a:spLocks xmlns:a="http://schemas.openxmlformats.org/drawingml/2006/main" noGrp="1"/>
          </p:cNvSpPr>
          <p:nvPr/>
        </p:nvSpPr>
        <p:spPr>
          <a:xfrm xmlns:a="http://schemas.openxmlformats.org/drawingml/2006/main">
            <a:off x="723900" y="5314950"/>
            <a:ext cx="514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5</a:t>
            </a:r>
          </a:p>
        </p:txBody>
      </p:sp>
      <p:sp>
        <p:nvSpPr>
          <p:cNvPr id="27" name="">
            <a:extLst xmlns:a="http://schemas.openxmlformats.org/drawingml/2006/main">
              <a:ext uri="{FF2B5EF4-FFF2-40B4-BE49-F238E27FC236}">
                <a16:creationId xmlns:a16="http://schemas.microsoft.com/office/drawing/2014/main" id="{2C03E848-A935-4053-B289-4BFA2BC83304}"/>
              </a:ext>
            </a:extLst>
          </p:cNvPr>
          <p:cNvSpPr>
            <a:spLocks xmlns:a="http://schemas.openxmlformats.org/drawingml/2006/main" noGrp="1"/>
          </p:cNvSpPr>
          <p:nvPr/>
        </p:nvSpPr>
        <p:spPr>
          <a:xfrm xmlns:a="http://schemas.openxmlformats.org/drawingml/2006/main">
            <a:off x="1524000" y="52197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2212B"/>
                </a:solidFill>
                <a:latin typeface="Arial"/>
                <a:ea typeface="Arial"/>
                <a:cs typeface="Arial"/>
              </a:defRPr>
            </a:pPr>
            <a:r>
              <a:rPr sz="1575" b="1">
                <a:solidFill>
                  <a:srgbClr val="12212B"/>
                </a:solidFill>
                <a:latin typeface="Arial"/>
                <a:ea typeface="Arial"/>
                <a:cs typeface="Arial"/>
              </a:rPr>
              <a:t>Open MLflow</a:t>
            </a:r>
          </a:p>
        </p:txBody>
      </p:sp>
      <p:sp>
        <p:nvSpPr>
          <p:cNvPr id="28" name="">
            <a:extLst xmlns:a="http://schemas.openxmlformats.org/drawingml/2006/main">
              <a:ext uri="{FF2B5EF4-FFF2-40B4-BE49-F238E27FC236}">
                <a16:creationId xmlns:a16="http://schemas.microsoft.com/office/drawing/2014/main" id="{5BF2843D-46C9-44E2-BE4B-3CA677A077CB}"/>
              </a:ext>
            </a:extLst>
          </p:cNvPr>
          <p:cNvSpPr>
            <a:spLocks xmlns:a="http://schemas.openxmlformats.org/drawingml/2006/main" noGrp="1"/>
          </p:cNvSpPr>
          <p:nvPr/>
        </p:nvSpPr>
        <p:spPr>
          <a:xfrm xmlns:a="http://schemas.openxmlformats.org/drawingml/2006/main">
            <a:off x="1524000" y="552450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D6B72"/>
                </a:solidFill>
                <a:latin typeface="Arial"/>
                <a:ea typeface="Arial"/>
                <a:cs typeface="Arial"/>
              </a:defRPr>
            </a:pPr>
            <a:r>
              <a:rPr sz="1200" b="0">
                <a:solidFill>
                  <a:srgbClr val="5D6B72"/>
                </a:solidFill>
                <a:latin typeface="Arial"/>
                <a:ea typeface="Arial"/>
                <a:cs typeface="Arial"/>
              </a:rPr>
              <a:t>Show the run, metrics, artifacts and model version.</a:t>
            </a:r>
          </a:p>
        </p:txBody>
      </p:sp>
      <p:sp>
        <p:nvSpPr>
          <p:cNvPr id="29" name="">
            <a:extLst xmlns:a="http://schemas.openxmlformats.org/drawingml/2006/main">
              <a:ext uri="{FF2B5EF4-FFF2-40B4-BE49-F238E27FC236}">
                <a16:creationId xmlns:a16="http://schemas.microsoft.com/office/drawing/2014/main" id="{A895A8D5-7B5F-4A63-A647-E4CFFB686CE1}"/>
              </a:ext>
            </a:extLst>
          </p:cNvPr>
          <p:cNvSpPr>
            <a:spLocks xmlns:a="http://schemas.openxmlformats.org/drawingml/2006/main" noGrp="1"/>
          </p:cNvSpPr>
          <p:nvPr/>
        </p:nvSpPr>
        <p:spPr>
          <a:xfrm xmlns:a="http://schemas.openxmlformats.org/drawingml/2006/main">
            <a:off x="9105900" y="1809750"/>
            <a:ext cx="2476500" cy="3943350"/>
          </a:xfrm>
          <a:prstGeom xmlns:a="http://schemas.openxmlformats.org/drawingml/2006/main" prst="roundRect">
            <a:avLst>
              <a:gd name="adj" fmla="val 8462"/>
            </a:avLst>
          </a:prstGeom>
          <a:solidFill xmlns:a="http://schemas.openxmlformats.org/drawingml/2006/main">
            <a:srgbClr val="12304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9B2FEA4-8DDC-44C0-9133-562EE0CADF36}"/>
              </a:ext>
            </a:extLst>
          </p:cNvPr>
          <p:cNvSpPr>
            <a:spLocks xmlns:a="http://schemas.openxmlformats.org/drawingml/2006/main" noGrp="1"/>
          </p:cNvSpPr>
          <p:nvPr/>
        </p:nvSpPr>
        <p:spPr>
          <a:xfrm xmlns:a="http://schemas.openxmlformats.org/drawingml/2006/main">
            <a:off x="9429750" y="2095500"/>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Review URLs</a:t>
            </a:r>
          </a:p>
        </p:txBody>
      </p:sp>
      <p:sp>
        <p:nvSpPr>
          <p:cNvPr id="31" name="">
            <a:extLst xmlns:a="http://schemas.openxmlformats.org/drawingml/2006/main">
              <a:ext uri="{FF2B5EF4-FFF2-40B4-BE49-F238E27FC236}">
                <a16:creationId xmlns:a16="http://schemas.microsoft.com/office/drawing/2014/main" id="{8672C604-76E9-4D1D-8D0E-9170A04713C4}"/>
              </a:ext>
            </a:extLst>
          </p:cNvPr>
          <p:cNvSpPr>
            <a:spLocks xmlns:a="http://schemas.openxmlformats.org/drawingml/2006/main" noGrp="1"/>
          </p:cNvSpPr>
          <p:nvPr/>
        </p:nvSpPr>
        <p:spPr>
          <a:xfrm xmlns:a="http://schemas.openxmlformats.org/drawingml/2006/main">
            <a:off x="9429750" y="2609850"/>
            <a:ext cx="1809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DBE8ED"/>
                </a:solidFill>
                <a:latin typeface="Arial"/>
                <a:ea typeface="Arial"/>
                <a:cs typeface="Arial"/>
              </a:defRPr>
            </a:pPr>
            <a:r>
              <a:rPr sz="1275" b="0">
                <a:solidFill>
                  <a:srgbClr val="DBE8ED"/>
                </a:solidFill>
                <a:latin typeface="Arial"/>
                <a:ea typeface="Arial"/>
                <a:cs typeface="Arial"/>
              </a:rPr>
              <a:t>Application</a:t>
            </a:r>
          </a:p>
          <a:p xmlns:a="http://schemas.openxmlformats.org/drawingml/2006/main">
            <a:pPr algn="l">
              <a:defRPr sz="1275" b="0">
                <a:solidFill>
                  <a:srgbClr val="DBE8ED"/>
                </a:solidFill>
                <a:latin typeface="Arial"/>
                <a:ea typeface="Arial"/>
                <a:cs typeface="Arial"/>
              </a:defRPr>
            </a:pPr>
            <a:r>
              <a:rPr sz="1275" b="0">
                <a:solidFill>
                  <a:srgbClr val="DBE8ED"/>
                </a:solidFill>
                <a:latin typeface="Arial"/>
                <a:ea typeface="Arial"/>
                <a:cs typeface="Arial"/>
              </a:rPr>
              <a:t>127.0.0.1:8000</a:t>
            </a:r>
          </a:p>
          <a:p xmlns:a="http://schemas.openxmlformats.org/drawingml/2006/main">
            <a:r>
              <a:t/>
            </a:r>
          </a:p>
          <a:p xmlns:a="http://schemas.openxmlformats.org/drawingml/2006/main">
            <a:pPr algn="l">
              <a:defRPr sz="1275" b="0">
                <a:solidFill>
                  <a:srgbClr val="DBE8ED"/>
                </a:solidFill>
                <a:latin typeface="Arial"/>
                <a:ea typeface="Arial"/>
                <a:cs typeface="Arial"/>
              </a:defRPr>
            </a:pPr>
            <a:r>
              <a:rPr sz="1275" b="0">
                <a:solidFill>
                  <a:srgbClr val="DBE8ED"/>
                </a:solidFill>
                <a:latin typeface="Arial"/>
                <a:ea typeface="Arial"/>
                <a:cs typeface="Arial"/>
              </a:rPr>
              <a:t>Monitoring</a:t>
            </a:r>
          </a:p>
          <a:p xmlns:a="http://schemas.openxmlformats.org/drawingml/2006/main">
            <a:pPr algn="l">
              <a:defRPr sz="1275" b="0">
                <a:solidFill>
                  <a:srgbClr val="DBE8ED"/>
                </a:solidFill>
                <a:latin typeface="Arial"/>
                <a:ea typeface="Arial"/>
                <a:cs typeface="Arial"/>
              </a:defRPr>
            </a:pPr>
            <a:r>
              <a:rPr sz="1275" b="0">
                <a:solidFill>
                  <a:srgbClr val="DBE8ED"/>
                </a:solidFill>
                <a:latin typeface="Arial"/>
                <a:ea typeface="Arial"/>
                <a:cs typeface="Arial"/>
              </a:rPr>
              <a:t>127.0.0.1:8000/monitoring</a:t>
            </a:r>
          </a:p>
          <a:p xmlns:a="http://schemas.openxmlformats.org/drawingml/2006/main">
            <a:r>
              <a:t/>
            </a:r>
          </a:p>
          <a:p xmlns:a="http://schemas.openxmlformats.org/drawingml/2006/main">
            <a:pPr algn="l">
              <a:defRPr sz="1275" b="0">
                <a:solidFill>
                  <a:srgbClr val="DBE8ED"/>
                </a:solidFill>
                <a:latin typeface="Arial"/>
                <a:ea typeface="Arial"/>
                <a:cs typeface="Arial"/>
              </a:defRPr>
            </a:pPr>
            <a:r>
              <a:rPr sz="1275" b="0">
                <a:solidFill>
                  <a:srgbClr val="DBE8ED"/>
                </a:solidFill>
                <a:latin typeface="Arial"/>
                <a:ea typeface="Arial"/>
                <a:cs typeface="Arial"/>
              </a:rPr>
              <a:t>MLflow</a:t>
            </a:r>
          </a:p>
          <a:p xmlns:a="http://schemas.openxmlformats.org/drawingml/2006/main">
            <a:pPr algn="l">
              <a:defRPr sz="1275" b="0">
                <a:solidFill>
                  <a:srgbClr val="DBE8ED"/>
                </a:solidFill>
                <a:latin typeface="Arial"/>
                <a:ea typeface="Arial"/>
                <a:cs typeface="Arial"/>
              </a:defRPr>
            </a:pPr>
            <a:r>
              <a:rPr sz="1275" b="0">
                <a:solidFill>
                  <a:srgbClr val="DBE8ED"/>
                </a:solidFill>
                <a:latin typeface="Arial"/>
                <a:ea typeface="Arial"/>
                <a:cs typeface="Arial"/>
              </a:rPr>
              <a:t>127.0.0.1:5000</a:t>
            </a:r>
          </a:p>
        </p:txBody>
      </p:sp>
      <p:sp>
        <p:nvSpPr>
          <p:cNvPr id="32" name="">
            <a:extLst xmlns:a="http://schemas.openxmlformats.org/drawingml/2006/main">
              <a:ext uri="{FF2B5EF4-FFF2-40B4-BE49-F238E27FC236}">
                <a16:creationId xmlns:a16="http://schemas.microsoft.com/office/drawing/2014/main" id="{896EEE5A-E039-4C94-89A8-42A4CDD1E078}"/>
              </a:ext>
            </a:extLst>
          </p:cNvPr>
          <p:cNvSpPr>
            <a:spLocks xmlns:a="http://schemas.openxmlformats.org/drawingml/2006/main" noGrp="1"/>
          </p:cNvSpPr>
          <p:nvPr/>
        </p:nvSpPr>
        <p:spPr>
          <a:xfrm xmlns:a="http://schemas.openxmlformats.org/drawingml/2006/main">
            <a:off x="9429750" y="5200650"/>
            <a:ext cx="1809750" cy="285750"/>
          </a:xfrm>
          <a:prstGeom xmlns:a="http://schemas.openxmlformats.org/drawingml/2006/main" prst="roundRect">
            <a:avLst>
              <a:gd name="adj" fmla="val 50000"/>
            </a:avLst>
          </a:prstGeom>
          <a:solidFill xmlns:a="http://schemas.openxmlformats.org/drawingml/2006/main">
            <a:srgbClr val="E38B35">
              <a:alpha val="16863"/>
            </a:srgbClr>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6865BEE-2EFC-40C9-AE55-1B2B6F0DAEA7}"/>
              </a:ext>
            </a:extLst>
          </p:cNvPr>
          <p:cNvSpPr>
            <a:spLocks xmlns:a="http://schemas.openxmlformats.org/drawingml/2006/main" noGrp="1"/>
          </p:cNvSpPr>
          <p:nvPr/>
        </p:nvSpPr>
        <p:spPr>
          <a:xfrm xmlns:a="http://schemas.openxmlformats.org/drawingml/2006/main">
            <a:off x="9525000" y="521970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00" b="1">
                <a:solidFill>
                  <a:srgbClr val="FFD1A0"/>
                </a:solidFill>
                <a:latin typeface="Arial"/>
                <a:ea typeface="Arial"/>
                <a:cs typeface="Arial"/>
              </a:defRPr>
            </a:pPr>
            <a:r>
              <a:rPr sz="900" b="1">
                <a:solidFill>
                  <a:srgbClr val="FFD1A0"/>
                </a:solidFill>
                <a:latin typeface="Arial"/>
                <a:ea typeface="Arial"/>
                <a:cs typeface="Arial"/>
              </a:rPr>
              <a:t>Keep Ollama running</a:t>
            </a:r>
          </a:p>
        </p:txBody>
      </p:sp>
      <p:sp>
        <p:nvSpPr>
          <p:cNvPr id="34" name="">
            <a:extLst xmlns:a="http://schemas.openxmlformats.org/drawingml/2006/main">
              <a:ext uri="{FF2B5EF4-FFF2-40B4-BE49-F238E27FC236}">
                <a16:creationId xmlns:a16="http://schemas.microsoft.com/office/drawing/2014/main" id="{DCBD7C91-E286-4704-8CF2-F7830EF72DB1}"/>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35" name="">
            <a:extLst xmlns:a="http://schemas.openxmlformats.org/drawingml/2006/main">
              <a:ext uri="{FF2B5EF4-FFF2-40B4-BE49-F238E27FC236}">
                <a16:creationId xmlns:a16="http://schemas.microsoft.com/office/drawing/2014/main" id="{EB131968-872A-4BC3-B564-E0ADA46026DB}"/>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08</a:t>
            </a:r>
          </a:p>
        </p:txBody>
      </p:sp>
    </p:spTree>
    <p:extLst>
      <p:ext uri="{BB962C8B-B14F-4D97-AF65-F5344CB8AC3E}">
        <p14:creationId xmlns:p14="http://schemas.microsoft.com/office/powerpoint/2010/main" val="731734721"/>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12F2D8E-DD32-4289-A50C-D6A0E452D6AB}"/>
              </a:ext>
            </a:extLst>
          </p:cNvPr>
          <p:cNvSpPr>
            <a:spLocks xmlns:a="http://schemas.openxmlformats.org/drawingml/2006/main" noGrp="1"/>
          </p:cNvSpPr>
          <p:nvPr/>
        </p:nvSpPr>
        <p:spPr>
          <a:xfrm xmlns:a="http://schemas.openxmlformats.org/drawingml/2006/main">
            <a:off x="609600" y="3048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975" b="1">
                <a:solidFill>
                  <a:srgbClr val="2C7A78"/>
                </a:solidFill>
                <a:latin typeface="Arial"/>
                <a:ea typeface="Arial"/>
                <a:cs typeface="Arial"/>
              </a:defRPr>
            </a:pPr>
            <a:r>
              <a:rPr sz="975" b="1">
                <a:solidFill>
                  <a:srgbClr val="2C7A78"/>
                </a:solidFill>
                <a:latin typeface="Arial"/>
                <a:ea typeface="Arial"/>
                <a:cs typeface="Arial"/>
              </a:rPr>
              <a:t>08  CONCLUSION</a:t>
            </a:r>
          </a:p>
        </p:txBody>
      </p:sp>
      <p:sp>
        <p:nvSpPr>
          <p:cNvPr id="2" name="">
            <a:extLst xmlns:a="http://schemas.openxmlformats.org/drawingml/2006/main">
              <a:ext uri="{FF2B5EF4-FFF2-40B4-BE49-F238E27FC236}">
                <a16:creationId xmlns:a16="http://schemas.microsoft.com/office/drawing/2014/main" id="{459D37C4-4774-4513-87C8-F8E6ABE9751D}"/>
              </a:ext>
            </a:extLst>
          </p:cNvPr>
          <p:cNvSpPr>
            <a:spLocks xmlns:a="http://schemas.openxmlformats.org/drawingml/2006/main" noGrp="1"/>
          </p:cNvSpPr>
          <p:nvPr/>
        </p:nvSpPr>
        <p:spPr>
          <a:xfrm xmlns:a="http://schemas.openxmlformats.org/drawingml/2006/main">
            <a:off x="609600" y="57150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2212B"/>
                </a:solidFill>
                <a:latin typeface="Arial"/>
                <a:ea typeface="Arial"/>
                <a:cs typeface="Arial"/>
              </a:defRPr>
            </a:pPr>
            <a:r>
              <a:rPr sz="2550" b="1">
                <a:solidFill>
                  <a:srgbClr val="12212B"/>
                </a:solidFill>
                <a:latin typeface="Arial"/>
                <a:ea typeface="Arial"/>
                <a:cs typeface="Arial"/>
              </a:rPr>
              <a:t>The prototype proves an end-to-end MLOps design</a:t>
            </a:r>
          </a:p>
        </p:txBody>
      </p:sp>
      <p:sp>
        <p:nvSpPr>
          <p:cNvPr id="3" name="">
            <a:extLst xmlns:a="http://schemas.openxmlformats.org/drawingml/2006/main">
              <a:ext uri="{FF2B5EF4-FFF2-40B4-BE49-F238E27FC236}">
                <a16:creationId xmlns:a16="http://schemas.microsoft.com/office/drawing/2014/main" id="{D98D64D2-5AF0-49B7-A994-8277F2D7DEE8}"/>
              </a:ext>
            </a:extLst>
          </p:cNvPr>
          <p:cNvSpPr>
            <a:spLocks xmlns:a="http://schemas.openxmlformats.org/drawingml/2006/main" noGrp="1"/>
          </p:cNvSpPr>
          <p:nvPr/>
        </p:nvSpPr>
        <p:spPr>
          <a:xfrm xmlns:a="http://schemas.openxmlformats.org/drawingml/2006/main">
            <a:off x="609600" y="11049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D6B72"/>
                </a:solidFill>
                <a:latin typeface="Arial"/>
                <a:ea typeface="Arial"/>
                <a:cs typeface="Arial"/>
              </a:defRPr>
            </a:pPr>
            <a:r>
              <a:rPr sz="1275" b="0">
                <a:solidFill>
                  <a:srgbClr val="5D6B72"/>
                </a:solidFill>
                <a:latin typeface="Arial"/>
                <a:ea typeface="Arial"/>
                <a:cs typeface="Arial"/>
              </a:rPr>
              <a:t>It is ready for a review demonstration and provides a clear path to real construction deployment.</a:t>
            </a:r>
          </a:p>
        </p:txBody>
      </p:sp>
      <p:sp>
        <p:nvSpPr>
          <p:cNvPr id="4" name="">
            <a:extLst xmlns:a="http://schemas.openxmlformats.org/drawingml/2006/main">
              <a:ext uri="{FF2B5EF4-FFF2-40B4-BE49-F238E27FC236}">
                <a16:creationId xmlns:a16="http://schemas.microsoft.com/office/drawing/2014/main" id="{822D0E6F-05AE-49A0-B7E1-0FADC1C04EFA}"/>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6D1C7"/>
            </a:solidFill>
            <a:prstDash val="solid"/>
          </a:ln>
        </p:spPr>
      </p:sp>
      <p:sp>
        <p:nvSpPr>
          <p:cNvPr id="5" name="">
            <a:extLst xmlns:a="http://schemas.openxmlformats.org/drawingml/2006/main">
              <a:ext uri="{FF2B5EF4-FFF2-40B4-BE49-F238E27FC236}">
                <a16:creationId xmlns:a16="http://schemas.microsoft.com/office/drawing/2014/main" id="{B6C10992-6AF8-4756-ADC6-E99407D13A2C}"/>
              </a:ext>
            </a:extLst>
          </p:cNvPr>
          <p:cNvSpPr>
            <a:spLocks xmlns:a="http://schemas.openxmlformats.org/drawingml/2006/main" noGrp="1"/>
          </p:cNvSpPr>
          <p:nvPr/>
        </p:nvSpPr>
        <p:spPr>
          <a:xfrm xmlns:a="http://schemas.openxmlformats.org/drawingml/2006/main">
            <a:off x="609600" y="1866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2C7A78"/>
                </a:solidFill>
                <a:latin typeface="Arial"/>
                <a:ea typeface="Arial"/>
                <a:cs typeface="Arial"/>
              </a:defRPr>
            </a:pPr>
            <a:r>
              <a:rPr sz="1575" b="1">
                <a:solidFill>
                  <a:srgbClr val="2C7A78"/>
                </a:solidFill>
                <a:latin typeface="Arial"/>
                <a:ea typeface="Arial"/>
                <a:cs typeface="Arial"/>
              </a:rPr>
              <a:t>Working now</a:t>
            </a:r>
          </a:p>
        </p:txBody>
      </p:sp>
      <p:sp>
        <p:nvSpPr>
          <p:cNvPr id="6" name="">
            <a:extLst xmlns:a="http://schemas.openxmlformats.org/drawingml/2006/main">
              <a:ext uri="{FF2B5EF4-FFF2-40B4-BE49-F238E27FC236}">
                <a16:creationId xmlns:a16="http://schemas.microsoft.com/office/drawing/2014/main" id="{10647B31-CDF6-47C9-A106-5AC48AD0986B}"/>
              </a:ext>
            </a:extLst>
          </p:cNvPr>
          <p:cNvSpPr>
            <a:spLocks xmlns:a="http://schemas.openxmlformats.org/drawingml/2006/main" noGrp="1"/>
          </p:cNvSpPr>
          <p:nvPr/>
        </p:nvSpPr>
        <p:spPr>
          <a:xfrm xmlns:a="http://schemas.openxmlformats.org/drawingml/2006/main">
            <a:off x="609600" y="2324100"/>
            <a:ext cx="4953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Multi-project ChatGPT-style workspace</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Persistent project file storage</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Project-isolated RAG with citations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Local Qwen foundation model</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Random Forest cost prediction</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MLflow tracking and model registry</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Monitoring, drift and rollback demo</a:t>
            </a:r>
          </a:p>
        </p:txBody>
      </p:sp>
      <p:sp>
        <p:nvSpPr>
          <p:cNvPr id="7" name="">
            <a:extLst xmlns:a="http://schemas.openxmlformats.org/drawingml/2006/main">
              <a:ext uri="{FF2B5EF4-FFF2-40B4-BE49-F238E27FC236}">
                <a16:creationId xmlns:a16="http://schemas.microsoft.com/office/drawing/2014/main" id="{CCFCEFA5-A903-4CB3-BF70-631242D3219C}"/>
              </a:ext>
            </a:extLst>
          </p:cNvPr>
          <p:cNvSpPr>
            <a:spLocks xmlns:a="http://schemas.openxmlformats.org/drawingml/2006/main" noGrp="1"/>
          </p:cNvSpPr>
          <p:nvPr/>
        </p:nvSpPr>
        <p:spPr>
          <a:xfrm xmlns:a="http://schemas.openxmlformats.org/drawingml/2006/main">
            <a:off x="6096000" y="1885950"/>
            <a:ext cx="0" cy="3333750"/>
          </a:xfrm>
          <a:prstGeom xmlns:a="http://schemas.openxmlformats.org/drawingml/2006/main" prst="line">
            <a:avLst/>
          </a:prstGeom>
          <a:noFill xmlns:a="http://schemas.openxmlformats.org/drawingml/2006/main"/>
          <a:ln xmlns:a="http://schemas.openxmlformats.org/drawingml/2006/main" w="19050">
            <a:solidFill>
              <a:srgbClr val="D6D1C7"/>
            </a:solidFill>
            <a:prstDash val="solid"/>
          </a:ln>
        </p:spPr>
      </p:sp>
      <p:sp>
        <p:nvSpPr>
          <p:cNvPr id="8" name="">
            <a:extLst xmlns:a="http://schemas.openxmlformats.org/drawingml/2006/main">
              <a:ext uri="{FF2B5EF4-FFF2-40B4-BE49-F238E27FC236}">
                <a16:creationId xmlns:a16="http://schemas.microsoft.com/office/drawing/2014/main" id="{66348BC8-FBCA-43A2-96AD-991EFE28DF4F}"/>
              </a:ext>
            </a:extLst>
          </p:cNvPr>
          <p:cNvSpPr>
            <a:spLocks xmlns:a="http://schemas.openxmlformats.org/drawingml/2006/main" noGrp="1"/>
          </p:cNvSpPr>
          <p:nvPr/>
        </p:nvSpPr>
        <p:spPr>
          <a:xfrm xmlns:a="http://schemas.openxmlformats.org/drawingml/2006/main">
            <a:off x="6629400" y="1866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E38B35"/>
                </a:solidFill>
                <a:latin typeface="Arial"/>
                <a:ea typeface="Arial"/>
                <a:cs typeface="Arial"/>
              </a:defRPr>
            </a:pPr>
            <a:r>
              <a:rPr sz="1575" b="1">
                <a:solidFill>
                  <a:srgbClr val="E38B35"/>
                </a:solidFill>
                <a:latin typeface="Arial"/>
                <a:ea typeface="Arial"/>
                <a:cs typeface="Arial"/>
              </a:rPr>
              <a:t>Next phase</a:t>
            </a:r>
          </a:p>
        </p:txBody>
      </p:sp>
      <p:sp>
        <p:nvSpPr>
          <p:cNvPr id="9" name="">
            <a:extLst xmlns:a="http://schemas.openxmlformats.org/drawingml/2006/main">
              <a:ext uri="{FF2B5EF4-FFF2-40B4-BE49-F238E27FC236}">
                <a16:creationId xmlns:a16="http://schemas.microsoft.com/office/drawing/2014/main" id="{CD041341-8B0F-4179-89FC-62A9CBCDC55F}"/>
              </a:ext>
            </a:extLst>
          </p:cNvPr>
          <p:cNvSpPr>
            <a:spLocks xmlns:a="http://schemas.openxmlformats.org/drawingml/2006/main" noGrp="1"/>
          </p:cNvSpPr>
          <p:nvPr/>
        </p:nvSpPr>
        <p:spPr>
          <a:xfrm xmlns:a="http://schemas.openxmlformats.org/drawingml/2006/main">
            <a:off x="6629400" y="232410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Replace synthetic data with expert-approved records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Add drawing and scanned-document OCR</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Evaluate answers with domain engineers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Add authentication and role permissions</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Package and validate Docker deployment</a:t>
            </a:r>
          </a:p>
          <a:p xmlns:a="http://schemas.openxmlformats.org/drawingml/2006/main">
            <a:pPr algn="l">
              <a:defRPr sz="1425" b="0">
                <a:solidFill>
                  <a:srgbClr val="12212B"/>
                </a:solidFill>
                <a:latin typeface="Arial"/>
                <a:ea typeface="Arial"/>
                <a:cs typeface="Arial"/>
              </a:defRPr>
            </a:pPr>
            <a:r>
              <a:rPr sz="1425" b="0">
                <a:solidFill>
                  <a:srgbClr val="12212B"/>
                </a:solidFill>
                <a:latin typeface="Arial"/>
                <a:ea typeface="Arial"/>
                <a:cs typeface="Arial"/>
              </a:rPr>
              <a:t>• Expand cost features and uncertainty ranges</a:t>
            </a:r>
          </a:p>
        </p:txBody>
      </p:sp>
      <p:sp>
        <p:nvSpPr>
          <p:cNvPr id="10" name="">
            <a:extLst xmlns:a="http://schemas.openxmlformats.org/drawingml/2006/main">
              <a:ext uri="{FF2B5EF4-FFF2-40B4-BE49-F238E27FC236}">
                <a16:creationId xmlns:a16="http://schemas.microsoft.com/office/drawing/2014/main" id="{D95C70F0-63E8-4367-86CB-D7C7EBD6EFB7}"/>
              </a:ext>
            </a:extLst>
          </p:cNvPr>
          <p:cNvSpPr>
            <a:spLocks xmlns:a="http://schemas.openxmlformats.org/drawingml/2006/main" noGrp="1"/>
          </p:cNvSpPr>
          <p:nvPr/>
        </p:nvSpPr>
        <p:spPr>
          <a:xfrm xmlns:a="http://schemas.openxmlformats.org/drawingml/2006/main">
            <a:off x="609600" y="5486400"/>
            <a:ext cx="10972800" cy="647700"/>
          </a:xfrm>
          <a:prstGeom xmlns:a="http://schemas.openxmlformats.org/drawingml/2006/main" prst="roundRect">
            <a:avLst>
              <a:gd name="adj" fmla="val 26471"/>
            </a:avLst>
          </a:prstGeom>
          <a:solidFill xmlns:a="http://schemas.openxmlformats.org/drawingml/2006/main">
            <a:srgbClr val="12304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15E157F-DF09-4FF1-BFDE-60B214BF73D4}"/>
              </a:ext>
            </a:extLst>
          </p:cNvPr>
          <p:cNvSpPr>
            <a:spLocks xmlns:a="http://schemas.openxmlformats.org/drawingml/2006/main" noGrp="1"/>
          </p:cNvSpPr>
          <p:nvPr/>
        </p:nvSpPr>
        <p:spPr>
          <a:xfrm xmlns:a="http://schemas.openxmlformats.org/drawingml/2006/main">
            <a:off x="876300" y="5638800"/>
            <a:ext cx="1043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Result: one demonstrable pipeline from project evidence to prediction, tracking, monitoring and safe rollback.</a:t>
            </a:r>
          </a:p>
        </p:txBody>
      </p:sp>
      <p:sp>
        <p:nvSpPr>
          <p:cNvPr id="12" name="">
            <a:extLst xmlns:a="http://schemas.openxmlformats.org/drawingml/2006/main">
              <a:ext uri="{FF2B5EF4-FFF2-40B4-BE49-F238E27FC236}">
                <a16:creationId xmlns:a16="http://schemas.microsoft.com/office/drawing/2014/main" id="{AD2EF691-295F-4DDD-8513-23EC376DFEFE}"/>
              </a:ext>
            </a:extLst>
          </p:cNvPr>
          <p:cNvSpPr>
            <a:spLocks xmlns:a="http://schemas.openxmlformats.org/drawingml/2006/main" noGrp="1"/>
          </p:cNvSpPr>
          <p:nvPr/>
        </p:nvSpPr>
        <p:spPr>
          <a:xfrm xmlns:a="http://schemas.openxmlformats.org/drawingml/2006/main">
            <a:off x="609600" y="6496050"/>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D6B72"/>
                </a:solidFill>
                <a:latin typeface="Arial"/>
                <a:ea typeface="Arial"/>
                <a:cs typeface="Arial"/>
              </a:defRPr>
            </a:pPr>
            <a:r>
              <a:rPr sz="825" b="0">
                <a:solidFill>
                  <a:srgbClr val="5D6B72"/>
                </a:solidFill>
                <a:latin typeface="Arial"/>
                <a:ea typeface="Arial"/>
                <a:cs typeface="Arial"/>
              </a:rPr>
              <a:t>ConstructAI  |  MLOps review prototype</a:t>
            </a:r>
          </a:p>
        </p:txBody>
      </p:sp>
      <p:sp>
        <p:nvSpPr>
          <p:cNvPr id="13" name="">
            <a:extLst xmlns:a="http://schemas.openxmlformats.org/drawingml/2006/main">
              <a:ext uri="{FF2B5EF4-FFF2-40B4-BE49-F238E27FC236}">
                <a16:creationId xmlns:a16="http://schemas.microsoft.com/office/drawing/2014/main" id="{1E83F15D-2994-4668-947D-09861BBEF5E4}"/>
              </a:ext>
            </a:extLst>
          </p:cNvPr>
          <p:cNvSpPr>
            <a:spLocks xmlns:a="http://schemas.openxmlformats.org/drawingml/2006/main" noGrp="1"/>
          </p:cNvSpPr>
          <p:nvPr/>
        </p:nvSpPr>
        <p:spPr>
          <a:xfrm xmlns:a="http://schemas.openxmlformats.org/drawingml/2006/main">
            <a:off x="11049000" y="64960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825" b="1">
                <a:solidFill>
                  <a:srgbClr val="5D6B72"/>
                </a:solidFill>
                <a:latin typeface="Arial"/>
                <a:ea typeface="Arial"/>
                <a:cs typeface="Arial"/>
              </a:defRPr>
            </a:pPr>
            <a:r>
              <a:rPr sz="825" b="1">
                <a:solidFill>
                  <a:srgbClr val="5D6B72"/>
                </a:solidFill>
                <a:latin typeface="Arial"/>
                <a:ea typeface="Arial"/>
                <a:cs typeface="Arial"/>
              </a:rPr>
              <a:t>09</a:t>
            </a:r>
          </a:p>
        </p:txBody>
      </p:sp>
    </p:spTree>
    <p:extLst>
      <p:ext uri="{BB962C8B-B14F-4D97-AF65-F5344CB8AC3E}">
        <p14:creationId xmlns:p14="http://schemas.microsoft.com/office/powerpoint/2010/main" val="9353078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2026-09-29T06:58:10.3530000Z</dcterms:created>
  <dcterms:modified xsi:type="dcterms:W3CDTF">2026-09-29T06:58:10.3540000Z</dcterms:modified>
</coreProperties>
</file>